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828800" cy="5486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B0D1A"/>
                </a:solidFill>
                <a:latin typeface="Calibri"/>
              </a:defRPr>
            </a:pPr>
            <a:r>
              <a:t>HospitalIQ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1F5F9"/>
                </a:solidFill>
                <a:latin typeface="Calibri"/>
              </a:defRPr>
            </a:pPr>
            <a:r>
              <a:t>AI-Powered Pandemic 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4A3B8"/>
                </a:solidFill>
                <a:latin typeface="Calibri"/>
              </a:defRPr>
            </a:pPr>
            <a:r>
              <a:t>Real-time intelligence for crisis-ready hospitals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8D6E5"/>
                </a:solidFill>
                <a:latin typeface="Calibri"/>
              </a:defRPr>
            </a:pPr>
            <a:r>
              <a:t>Predicts bed shortages, patient mortality, and outbreak risks across 36 Indian states.</a:t>
            </a:r>
            <a:br/>
            <a:r>
              <a:t>ML-driven foresight that reduces emergency response time by 60%.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Where Healthcare Meets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Indian hospitals operate blind during pandemics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  •  No real-time visibility into bed availability across states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  •  Manual patient triage — slow, inconsistent, error-prone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  •  Outbreak response is reactive, not predictive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  •  60% of rural hospitals lack data-driven decision tools</a:t>
            </a:r>
          </a:p>
          <a:p>
            <a:pPr>
              <a:spcAft>
                <a:spcPts val="400"/>
              </a:spcAft>
              <a:defRPr sz="1500">
                <a:solidFill>
                  <a:srgbClr val="C8D6E5"/>
                </a:solidFill>
                <a:latin typeface="Calibri"/>
              </a:defRPr>
            </a:pPr>
            <a:r>
              <a:t>  •  Administrators overwhelmed — no unified command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303520"/>
            <a:ext cx="2377440" cy="10972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Patients tracked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5303520"/>
            <a:ext cx="2377440" cy="10972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States covered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5303520"/>
            <a:ext cx="2377440" cy="10972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ML models live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5303520"/>
            <a:ext cx="2377440" cy="10972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5394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B5CF6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5943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Faster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HospitalIQ — One platform. Total visibility.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Calibri"/>
              </a:defRPr>
            </a:pPr>
            <a:r>
              <a:t>An AI-powered command center that unifies prediction, monitoring, and decision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3200400" cy="2926080"/>
          </a:xfrm>
          <a:prstGeom prst="roundRect">
            <a:avLst/>
          </a:prstGeom>
          <a:solidFill>
            <a:srgbClr val="12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ML models forecast bed demand,</a:t>
            </a:r>
            <a:br/>
            <a:r>
              <a:t>mortality rates, and patient risk</a:t>
            </a:r>
            <a:br/>
            <a:r>
              <a:t>hours to months ahead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3200400"/>
            <a:ext cx="3200400" cy="2926080"/>
          </a:xfrm>
          <a:prstGeom prst="roundRect">
            <a:avLst/>
          </a:prstGeom>
          <a:solidFill>
            <a:srgbClr val="12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Real-time dashboards track</a:t>
            </a:r>
            <a:br/>
            <a:r>
              <a:t>outbreaks, hospital capacity,</a:t>
            </a:r>
            <a:br/>
            <a:r>
              <a:t>and health system readiness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3200400"/>
            <a:ext cx="3200400" cy="2926080"/>
          </a:xfrm>
          <a:prstGeom prst="roundRect">
            <a:avLst/>
          </a:prstGeom>
          <a:solidFill>
            <a:srgbClr val="12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383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11480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8D6E5"/>
                </a:solidFill>
                <a:latin typeface="Calibri"/>
              </a:defRPr>
            </a:pPr>
            <a:r>
              <a:t>AI chatbot + intelligent alerts</a:t>
            </a:r>
            <a:br/>
            <a:r>
              <a:t>enable rapid triage and</a:t>
            </a:r>
            <a:br/>
            <a:r>
              <a:t>resource allocation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43891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Calibri"/>
              </a:defRPr>
            </a:pPr>
            <a:r>
              <a:t> 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FastAPI + Python 3.12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SQLite / PostgreSQL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6 ML models (GBR, XGB, RF, ensemble)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JWT auth + Google OAuth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REST API with 40+ endpoints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AI chatbot via Gemini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474720" cy="43891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Calibri"/>
              </a:defRPr>
            </a:pPr>
            <a:r>
              <a:t>  ML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Bed availability predictor (GBR)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Mortality predictor (XGBoost)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Outbreak forecast (XGBoost)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Patient risk ensemble (RF+GB+XGB)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Hospital capacity ranking (RF)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Scenario simulation (XGBoost)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828800"/>
            <a:ext cx="3474720" cy="43891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02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  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56032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React 19 + TypeScript + Vite 8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Tailwind v4 dark theme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Recharts + SVG visualizations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8 interactive dashboard pages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Command palette + keyboard nav</a:t>
            </a:r>
          </a:p>
          <a:p>
            <a:pPr>
              <a:spcAft>
                <a:spcPts val="400"/>
              </a:spcAft>
              <a:defRPr sz="1200">
                <a:solidFill>
                  <a:srgbClr val="C8D6E5"/>
                </a:solidFill>
                <a:latin typeface="Calibri"/>
              </a:defRPr>
            </a:pPr>
            <a:r>
              <a:t>  •  Responsive: desktop-first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206240" y="347472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046720" y="3474720"/>
            <a:ext cx="365760" cy="27432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ML MODELS &amp;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BedPredictor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GradientBoostingRegressor  |  R² 0.64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Bed demand per state/ward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MortalityPredictor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XGBoost  |  R² 0.85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Death rates by district/age/cause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29184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ForecastPredictor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XGBoost  |  MAPE 9.8% (cases)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Case &amp; death forecasting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29184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ScenarioPredictor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XGBoost  |  MAPE 5.7% (train)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14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Pandemic what-if simulation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75488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PatientRiskPredictor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RF + GB + XGB  | 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Per-patient risk scoring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754880"/>
            <a:ext cx="5029200" cy="11887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HospitalPredictor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alibri"/>
              </a:defRPr>
            </a:pPr>
            <a:r>
              <a:t>RandomForest  |  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6E5"/>
                </a:solidFill>
                <a:latin typeface="Calibri"/>
              </a:defRPr>
            </a:pPr>
            <a:r>
              <a:t>Capacity &amp; resource ranking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Command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Mission-control dashboard with real-time IST clock,</a:t>
            </a:r>
            <a:br/>
            <a:r>
              <a:t>system health, live KPIs, and intelligence feed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Forecasting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ML-driven bed occupancy forecasts with scenario</a:t>
            </a:r>
            <a:br/>
            <a:r>
              <a:t>comparison, state/ward filters, CSV export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38328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Pandemic Scenario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What-if simulation across 6 diseases with</a:t>
            </a:r>
            <a:br/>
            <a:r>
              <a:t>risk gauges, timeline charts, hospital impact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38328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AI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931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Gemini-powered chatbot with session history,</a:t>
            </a:r>
            <a:br/>
            <a:r>
              <a:t>entity extraction, and contextual recommendations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6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Patient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Searchable patient registry with risk scores,</a:t>
            </a:r>
            <a:br/>
            <a:r>
              <a:t>multi-filter chips, and card/table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937760"/>
            <a:ext cx="5029200" cy="128016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6B6D4"/>
                </a:solidFill>
                <a:latin typeface="Calibri"/>
              </a:defRPr>
            </a:pPr>
            <a:r>
              <a:t>Patient Detail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D6E5"/>
                </a:solidFill>
                <a:latin typeface="Calibri"/>
              </a:defRPr>
            </a:pPr>
            <a:r>
              <a:t>360° patient view with semicircle risk gauge,</a:t>
            </a:r>
            <a:br/>
            <a:r>
              <a:t>feature analysis, and medical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828800"/>
            <a:ext cx="457200" cy="4572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Calibri"/>
              </a:defRPr>
            </a:pPr>
            <a:r>
              <a:t>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Secure JWT auth or</a:t>
            </a:r>
            <a:br/>
            <a:r>
              <a:t>Google OAuth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1920240"/>
            <a:ext cx="457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0" y="18288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Real-time overview</a:t>
            </a:r>
            <a:br/>
            <a:r>
              <a:t>of health system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1920240"/>
            <a:ext cx="457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03520" y="18288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Calibri"/>
              </a:defRPr>
            </a:pPr>
            <a:r>
              <a:t>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Predict bed demand</a:t>
            </a:r>
            <a:br/>
            <a:r>
              <a:t>and outbreak trends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66560" y="1920240"/>
            <a:ext cx="457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06640" y="18288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Simulate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Run what-if</a:t>
            </a:r>
            <a:br/>
            <a:r>
              <a:t>pandemic scenarios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869680" y="1920240"/>
            <a:ext cx="457200" cy="2286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59" y="1828800"/>
            <a:ext cx="457200" cy="457200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1F5F9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59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43F5E"/>
                </a:solidFill>
                <a:latin typeface="Calibri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59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8D6E5"/>
                </a:solidFill>
                <a:latin typeface="Calibri"/>
              </a:defRPr>
            </a:pPr>
            <a:r>
              <a:t>Deploy resources,</a:t>
            </a:r>
            <a:br/>
            <a:r>
              <a:t>triage patients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14800"/>
            <a:ext cx="10332720" cy="210312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2976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Calibri"/>
              </a:defRPr>
            </a:pPr>
            <a:r>
              <a:t>What happens in the backend: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754880"/>
            <a:ext cx="9875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6E5"/>
                </a:solidFill>
                <a:latin typeface="Calibri"/>
              </a:defRPr>
            </a:pPr>
            <a:r>
              <a:t>  •  User action → REST API call to FastAPI backend → SQL query / ML model inference</a:t>
            </a:r>
          </a:p>
          <a:p>
            <a:pPr>
              <a:spcAft>
                <a:spcPts val="400"/>
              </a:spcAft>
              <a:defRPr sz="1100">
                <a:solidFill>
                  <a:srgbClr val="C8D6E5"/>
                </a:solidFill>
                <a:latin typeface="Calibri"/>
              </a:defRPr>
            </a:pPr>
            <a:r>
              <a:t>  •  6 ML models loaded at startup → features extracted from DB → prediction returned</a:t>
            </a:r>
          </a:p>
          <a:p>
            <a:pPr>
              <a:spcAft>
                <a:spcPts val="400"/>
              </a:spcAft>
              <a:defRPr sz="1100">
                <a:solidFill>
                  <a:srgbClr val="C8D6E5"/>
                </a:solidFill>
                <a:latin typeface="Calibri"/>
              </a:defRPr>
            </a:pPr>
            <a:r>
              <a:t>  •  Real-time health status polling every 30s → system readiness indicators updated</a:t>
            </a:r>
          </a:p>
          <a:p>
            <a:pPr>
              <a:spcAft>
                <a:spcPts val="400"/>
              </a:spcAft>
              <a:defRPr sz="1100">
                <a:solidFill>
                  <a:srgbClr val="C8D6E5"/>
                </a:solidFill>
                <a:latin typeface="Calibri"/>
              </a:defRPr>
            </a:pPr>
            <a:r>
              <a:t>  •  AI chatbot parses natural language → detects entities (state, disease) → fetches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1F5F9"/>
                </a:solidFill>
                <a:latin typeface="Calibri"/>
              </a:defRPr>
            </a:pPr>
            <a:r>
              <a:t>India’s healthcare AI market is projected to reach $1.3B by 2028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Primary targets: Government hospitals, private chains, disaster management authorities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70,000+ hospitals in India — &lt;5% use AI for operational decisions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Post-COVID mandate for digital health preparedness (Ayushman Bharat Digital Mission)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State health departments actively seeking pandemic readiness solutions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Scalable globally — LMICs with similar infrastructure gaps (SE Asia, Africa)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TRACTION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58/58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Tests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ML + API test</a:t>
            </a:r>
            <a:br/>
            <a:r>
              <a:t>suite verified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828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Frontend 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Production build</a:t>
            </a:r>
            <a:br/>
            <a:r>
              <a:t>with 0 errors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920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10,000+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Synthetic 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926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Realistic seed data</a:t>
            </a:r>
            <a:br/>
            <a:r>
              <a:t>for demo &amp; testing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114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Indian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Geographic coverage</a:t>
            </a:r>
            <a:br/>
            <a:r>
              <a:t>with real district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4114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deployed,</a:t>
            </a:r>
            <a:br/>
            <a:r>
              <a:t>all predicting live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114800"/>
            <a:ext cx="3200400" cy="182880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42062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CF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1F5F9"/>
                </a:solidFill>
                <a:latin typeface="Calibri"/>
              </a:defRPr>
            </a:pPr>
            <a:r>
              <a:t>TypeScript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Full type safety</a:t>
            </a:r>
            <a:br/>
            <a:r>
              <a:t>across codebase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Calibri"/>
              </a:defRPr>
            </a:pPr>
            <a:r>
              <a:t>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8D6E5"/>
                </a:solidFill>
                <a:latin typeface="Calibri"/>
              </a:defRPr>
            </a:pPr>
            <a:r>
              <a:t>Built by a cross-functional team with expertise in ML, full-stack engineering, and healthcare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3200400" cy="29260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292608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HQ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6B6D4"/>
                </a:solidFill>
                <a:latin typeface="Calibri"/>
              </a:defRPr>
            </a:pPr>
            <a:r>
              <a:t>Full-Stack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React, TypeScript, FastAPI,</a:t>
            </a:r>
            <a:br/>
            <a:r>
              <a:t>Python, SQLite/PostgreSQL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743200"/>
            <a:ext cx="3200400" cy="29260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715000" y="292608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HQ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8B5CF6"/>
                </a:solidFill>
                <a:latin typeface="Calibri"/>
              </a:defRPr>
            </a:pPr>
            <a:r>
              <a:t>ML Engineer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572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GBR, XGBoost, RandomForest,</a:t>
            </a:r>
            <a:br/>
            <a:r>
              <a:t>ensemble methods, model tuning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743200"/>
            <a:ext cx="3200400" cy="2926080"/>
          </a:xfrm>
          <a:prstGeom prst="roundRect">
            <a:avLst/>
          </a:prstGeom>
          <a:solidFill>
            <a:srgbClr val="1A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372600" y="2926080"/>
            <a:ext cx="914400" cy="9144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017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1F5F9"/>
                </a:solidFill>
                <a:latin typeface="Calibri"/>
              </a:defRPr>
            </a:pPr>
            <a:r>
              <a:t>HQ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023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  <a:latin typeface="Calibri"/>
              </a:defRPr>
            </a:pPr>
            <a:r>
              <a:t>Product Designer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5720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D6E5"/>
                </a:solidFill>
                <a:latin typeface="Calibri"/>
              </a:defRPr>
            </a:pPr>
            <a:r>
              <a:t>Dark-theme UI/UX, accessibility,</a:t>
            </a:r>
            <a:br/>
            <a:r>
              <a:t>data visualization, animations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188720"/>
            <a:ext cx="1828800" cy="2743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1F5F9"/>
                </a:solidFill>
                <a:latin typeface="Calibri"/>
              </a:defRPr>
            </a:pPr>
            <a:r>
              <a:t>We are seeking $500K in seed 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Product development: Clinical trial partnerships, HL7/FHIR integration ($250K)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Team expansion: 2 senior engineers + 1 data scientist ($150K)</a:t>
            </a:r>
          </a:p>
          <a:p>
            <a:pPr>
              <a:spcAft>
                <a:spcPts val="400"/>
              </a:spcAft>
              <a:defRPr sz="1400">
                <a:solidFill>
                  <a:srgbClr val="C8D6E5"/>
                </a:solidFill>
                <a:latin typeface="Calibri"/>
              </a:defRPr>
            </a:pPr>
            <a:r>
              <a:t>  •  Infrastructure: HIPAA-compliant hosting, scaling to 100+ hospitals ($100K)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5CF6"/>
                </a:solidFill>
                <a:latin typeface="Calibri"/>
              </a:defRPr>
            </a:pPr>
            <a:r>
              <a:t>Join us in building the nervous system for India’s healthcare infrastructure.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B6D4"/>
                </a:solidFill>
                <a:latin typeface="Calibri"/>
              </a:defRPr>
            </a:pPr>
            <a:r>
              <a:t>HospitalIQ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D6E5"/>
                </a:solidFill>
                <a:latin typeface="Calibri"/>
              </a:defRPr>
            </a:pPr>
            <a:r>
              <a:t>Crisis-ready hospitals. Powered by AI.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3474720"/>
            <a:ext cx="274320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Calibri"/>
              </a:defRPr>
            </a:pPr>
            <a:r>
              <a:t>Let’s build the future of pandemic response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contact@hospitaliq.ai  |  hospitaliq.ai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