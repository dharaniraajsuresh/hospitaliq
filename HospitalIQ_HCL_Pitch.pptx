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(1 min): 'India's public healthcare system generates enormous data, but lacks the AI layer to predict what happens next. HospitalIQ — we call it HOSPi — is that layer. Built ground-up for India, validated across 36 states with 1.6 million synthetic records, and ready to deploy with HCL as our production bridge.'</a:t>
            </a:r>
          </a:p>
          <a:p/>
          <a:p>
            <a:r>
              <a:t>Key talking points:</a:t>
            </a:r>
          </a:p>
          <a:p>
            <a:r>
              <a:t>- Tamil Nadu is leading India's healthcare digitisation but still operates reactively</a:t>
            </a:r>
          </a:p>
          <a:p>
            <a:r>
              <a:t>- HOSPi adds real-time ML prediction on top of existing HMIS infrastructure</a:t>
            </a:r>
          </a:p>
          <a:p>
            <a:r>
              <a:t>- HCL's expertise in enterprise deployment makes them the ideal partner</a:t>
            </a:r>
          </a:p>
          <a:p>
            <a:r>
              <a:t>- 7 ML models, 58/58 tests passing, synthetic data modeled on real Indian demographics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(1.5 min): 'Tamil Nadu has digitised health records through TN e-Health and ABDM, but there is zero predictive intelligence. Bed occupancy is known after the fact. Outbreak risk is assessed manually. Rural hospitals are left out entirely. The data pipes exist. The AI layer doesn't.'</a:t>
            </a:r>
          </a:p>
          <a:p/>
          <a:p>
            <a:r>
              <a:t>Key points:</a:t>
            </a:r>
          </a:p>
          <a:p>
            <a:r>
              <a:t>- TN has invested crores in HMIS digitisation but no ML prediction</a:t>
            </a:r>
          </a:p>
          <a:p>
            <a:r>
              <a:t>- During COVID, bed forecasting was done on Excel sheets</a:t>
            </a:r>
          </a:p>
          <a:p>
            <a:r>
              <a:t>- Our own testing shows 60% faster response with ML-driven triage</a:t>
            </a:r>
          </a:p>
          <a:p>
            <a:r>
              <a:t>- Rural hospitals bear the highest pandemic burden with least tech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(2 min): 'HOSPi is not another HMIS. It's the predictive intelligence layer that sits on top. Six integrated capabilities — bed forecasting, mortality prediction, outbreak simulation, patient risk scoring, AI assistant, and hospital ranking — all accessible through a single dark-theme command center.'</a:t>
            </a:r>
          </a:p>
          <a:p/>
          <a:p>
            <a:r>
              <a:t>Walk through each:</a:t>
            </a:r>
          </a:p>
          <a:p>
            <a:r>
              <a:t>- Bed Forecasting: GBR model, R² 0.64, predicts by ward type</a:t>
            </a:r>
          </a:p>
          <a:p>
            <a:r>
              <a:t>- Mortality: XGBoost, R² 0.85, chronological split avoids data leakage</a:t>
            </a:r>
          </a:p>
          <a:p>
            <a:r>
              <a:t>- Forecasting: XGBoost at 9.8% MAPE on cases — replaced Ridge which had 414%</a:t>
            </a:r>
          </a:p>
          <a:p>
            <a:r>
              <a:t>- Patient Risk: 3-model ensemble, spread from 18% to 88%</a:t>
            </a:r>
          </a:p>
          <a:p>
            <a:r>
              <a:t>- AI Assistant: Gemini RAG with entity extraction</a:t>
            </a:r>
          </a:p>
          <a:p>
            <a:r>
              <a:t>- Hospital Ranking: RF model + real-time health dashboards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MOAT (1.5 min): 'Anyone can train an XGBoost model. But deploying healthcare AI that works when the network drops, that handles messy Indian health data, that doesn't hallucinate hospital names — that's hard.'</a:t>
            </a:r>
          </a:p>
          <a:p/>
          <a:p>
            <a:r>
              <a:t>Walk through each moat element:</a:t>
            </a:r>
          </a:p>
          <a:p>
            <a:r>
              <a:t>- 7 models, each with different algorithm based on data characteristics</a:t>
            </a:r>
          </a:p>
          <a:p>
            <a:r>
              <a:t>- 3-tier fallback: if ML model fails, use DB trend; if no DB data, use estimated</a:t>
            </a:r>
          </a:p>
          <a:p>
            <a:r>
              <a:t>- RAG chatbot with word-boundary entity matching (prevents 'ap' matching 'capacity')</a:t>
            </a:r>
          </a:p>
          <a:p>
            <a:r>
              <a:t>- 1.6M records with realistic Indian demographics — age distributions, disease correlations</a:t>
            </a:r>
          </a:p>
          <a:p>
            <a:r>
              <a:t>- 16 normalized tables with proper foreign keys</a:t>
            </a:r>
          </a:p>
          <a:p>
            <a:r>
              <a:t>- prediction_log for audit trail of every inference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(1.5 min): 'Three clean tiers — React frontend talks to FastAPI backend, which orchestrates 7 ML models, which read from a 16-table normalized database. Every prediction goes through a 3-tier fallback chain.'</a:t>
            </a:r>
          </a:p>
          <a:p/>
          <a:p>
            <a:r>
              <a:t>Walk through:</a:t>
            </a:r>
          </a:p>
          <a:p>
            <a:r>
              <a:t>- Frontend: React 19, TypeScript, dark theme, 8 pages, keyboard nav</a:t>
            </a:r>
          </a:p>
          <a:p>
            <a:r>
              <a:t>- Backend: FastAPI, 40+ endpoints, JWT + OAuth, Gemini AI</a:t>
            </a:r>
          </a:p>
          <a:p>
            <a:r>
              <a:t>- ML: 7 pickle-serialized models with feature engineering pipeline</a:t>
            </a:r>
          </a:p>
          <a:p>
            <a:r>
              <a:t>- Fallback: ml_model → db_trend → estimated (never fails silently)</a:t>
            </a:r>
          </a:p>
          <a:p>
            <a:r>
              <a:t>- Database: SQLite now, PostgreSQL next, automatic fallback at startup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(2 min): 'Seven production models, each chosen for the specific prediction task. XGBoost for forecasting where feature interactions matter. GradientBoosting for regression with outliers. Ensemble for patient risk where diversity helps.'</a:t>
            </a:r>
          </a:p>
          <a:p/>
          <a:p>
            <a:r>
              <a:t>Walk through grid:</a:t>
            </a:r>
          </a:p>
          <a:p>
            <a:r>
              <a:t>- Bed: GBR for smooth regression on bed data</a:t>
            </a:r>
          </a:p>
          <a:p>
            <a:r>
              <a:t>- Mortality: XGBoost with chronological split — R² 0.85</a:t>
            </a:r>
          </a:p>
          <a:p>
            <a:r>
              <a:t>- Forecast: XGBoost replaced Ridge — MAPE dropped from 414% to 9.8%</a:t>
            </a:r>
          </a:p>
          <a:p>
            <a:r>
              <a:t>- Scenario: Same upgrade story — 414% to 5.7%</a:t>
            </a:r>
          </a:p>
          <a:p>
            <a:r>
              <a:t>- Patient Risk: 3-model ensemble, 18-88% spread</a:t>
            </a:r>
          </a:p>
          <a:p>
            <a:r>
              <a:t>- Hospital: RandomForest for ranking</a:t>
            </a:r>
          </a:p>
          <a:p>
            <a:r>
              <a:t>- Risk: Deterministic — deliberately not ML to avoid data leakage</a:t>
            </a:r>
          </a:p>
          <a:p/>
          <a:p>
            <a:r>
              <a:t>Highlight the evolution story — shows we iterate and improve.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TN FIT (1 min): 'We didn't build a generic healthcare AI and bolt TN onto it. We built HOSPi with TN as the default. Every dropdown defaults to TN data. Mortality predictions work at the district level for all 38 TN districts. Bed forecasting covers the exact ward types used in TN hospitals.'</a:t>
            </a:r>
          </a:p>
          <a:p/>
          <a:p>
            <a:r>
              <a:t>Specifics:</a:t>
            </a:r>
          </a:p>
          <a:p>
            <a:r>
              <a:t>- All 38 districts covered in mortality model</a:t>
            </a:r>
          </a:p>
          <a:p>
            <a:r>
              <a:t>- Bed forecasting by ward type matches TN hospital structure</a:t>
            </a:r>
          </a:p>
          <a:p>
            <a:r>
              <a:t>- Pandemic scenario simulator works with TN state data</a:t>
            </a:r>
          </a:p>
          <a:p>
            <a:r>
              <a:t>- AI assistant detects TN-specific entities</a:t>
            </a:r>
          </a:p>
          <a:p>
            <a:r>
              <a:t>- Synthetic data uses South Indian demographics as anchor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COMPETITIVE EDGE (1.5 min): 'Traditional HMIS systems store data but don't predict. ERP suites require months of implementation. BI tools need clean data pipelines. HOSPi does all three — predicts, deploys in 10 minutes, works with synthetic or real data.'</a:t>
            </a:r>
          </a:p>
          <a:p/>
          <a:p>
            <a:r>
              <a:t>Walk through comparison:</a:t>
            </a:r>
          </a:p>
          <a:p>
            <a:r>
              <a:t>- Real-time ML: every API call runs inference, not batch</a:t>
            </a:r>
          </a:p>
          <a:p>
            <a:r>
              <a:t>- Graceful: 3-tier fallback, never silent failure</a:t>
            </a:r>
          </a:p>
          <a:p>
            <a:r>
              <a:t>- Data: works with synthetic data immediately</a:t>
            </a:r>
          </a:p>
          <a:p>
            <a:r>
              <a:t>- Deployment: SQLite included, 10-min setup</a:t>
            </a:r>
          </a:p>
          <a:p>
            <a:r>
              <a:t>- Open source: MIT license, no vendor lock-in</a:t>
            </a:r>
          </a:p>
          <a:p>
            <a:r>
              <a:t>- Indian-first: 36 states, 6 diseases, Indian demographics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(2 min): We aren't asking for funding. We're asking for three specific infrastructure and access bridges that HCL is uniquely positioned to provide.</a:t>
            </a:r>
          </a:p>
          <a:p/>
          <a:p>
            <a:r>
              <a:t>Walk through each:</a:t>
            </a:r>
          </a:p>
          <a:p>
            <a:r>
              <a:t>1. Real data: Synthetic data is good for development; production needs real distributions</a:t>
            </a:r>
          </a:p>
          <a:p>
            <a:r>
              <a:t>2. PostgreSQL migration: HCL's enterprise infrastructure expertise is critical</a:t>
            </a:r>
          </a:p>
          <a:p>
            <a:r>
              <a:t>3. Government introductions: HCL has existing relationships with TN government</a:t>
            </a:r>
          </a:p>
          <a:p/>
          <a:p>
            <a:r>
              <a:t>Frame as: You bring the infrastructure and access. We bring the ML and the product. Together we deliver the predictive intelligence layer for TN healthcare.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(1 min): 'Four quarters from prototype to enterprise deployment across TN. Each quarter builds on the previous with measurable milestones.'</a:t>
            </a:r>
          </a:p>
          <a:p/>
          <a:p>
            <a:r>
              <a:t>Q1: Fix technical debt (TS strict mode), get real data, retrain</a:t>
            </a:r>
          </a:p>
          <a:p>
            <a:r>
              <a:t>Q2: Production DB (PostgreSQL), async predictions, caching</a:t>
            </a:r>
          </a:p>
          <a:p>
            <a:r>
              <a:t>Q3: Scale to 20 hospitals, monitoring, drift detection</a:t>
            </a:r>
          </a:p>
          <a:p>
            <a:r>
              <a:t>Q4: Compliance, multi-state, HCL-managed SLA</a:t>
            </a:r>
          </a:p>
          <a:p/>
          <a:p>
            <a:r>
              <a:t>All 58 tests passing throughout — we maintain quality during migration.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(1 min): 'HOSPi brings the product and the ML. HCL brings the infrastructure, relationships, and scale. Tamil Nadu brings the purpose. Together we deliver India's first AI-predictive healthcare layer.'</a:t>
            </a:r>
          </a:p>
          <a:p/>
          <a:p>
            <a:r>
              <a:t>Each column:</a:t>
            </a:r>
          </a:p>
          <a:p>
            <a:r>
              <a:t>- HOSPi: 7 models, 58 tests, full-stack product</a:t>
            </a:r>
          </a:p>
          <a:p>
            <a:r>
              <a:t>- HCL: Enterprise deployment, government access, compliance</a:t>
            </a:r>
          </a:p>
          <a:p>
            <a:r>
              <a:t>- Tamil Nadu: Real impact on 38 districts, real lives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(30 sec): 'Tamil Nadu has the vision. HCL has the infrastructure. HOSPi has the product. Let's build the predictive healthcare layer that 8 crore Tamil citizens deserve. Thank you.'</a:t>
            </a:r>
          </a:p>
          <a:p/>
          <a:p>
            <a:r>
              <a:t>Final ask: 'We're ready to deploy a pilot in 5 TN district hospitals within 90 days of data access. Let's make Tamil Nadu India's first AI-predictive state for healthcare.'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2011680" cy="502920"/>
          </a:xfrm>
          <a:prstGeom prst="round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2011680" cy="502920"/>
          </a:xfrm>
          <a:prstGeom prst="rect">
            <a:avLst/>
          </a:prstGeom>
          <a:noFill/>
        </p:spPr>
        <p:txBody>
          <a:bodyPr wrap="square"/>
          <a:lstStyle/>
          <a:p>
            <a:pPr algn="ctr">
              <a:defRPr sz="2000" b="1">
                <a:solidFill>
                  <a:srgbClr val="1E2761"/>
                </a:solidFill>
                <a:latin typeface="Cambria"/>
              </a:defRPr>
            </a:pPr>
            <a:r>
              <a:t>HOSPi</a:t>
            </a:r>
          </a:p>
        </p:txBody>
      </p:sp>
      <p:sp>
        <p:nvSpPr>
          <p:cNvPr id="5" name="TextBox 4"/>
          <p:cNvSpPr txBox="1"/>
          <p:nvPr/>
        </p:nvSpPr>
        <p:spPr>
          <a:xfrm>
            <a:off x="731520" y="1828800"/>
            <a:ext cx="10515600" cy="914400"/>
          </a:xfrm>
          <a:prstGeom prst="rect">
            <a:avLst/>
          </a:prstGeom>
          <a:noFill/>
        </p:spPr>
        <p:txBody>
          <a:bodyPr wrap="square"/>
          <a:lstStyle/>
          <a:p>
            <a:pPr algn="l">
              <a:defRPr sz="4000" b="1">
                <a:solidFill>
                  <a:srgbClr val="FFFFFF"/>
                </a:solidFill>
                <a:latin typeface="Cambria"/>
              </a:defRPr>
            </a:pPr>
            <a:r>
              <a:t>HOSPi: AI-Powered Healthcare</a:t>
            </a:r>
            <a:br/>
            <a:r>
              <a:t>Intelligence for India</a:t>
            </a:r>
          </a:p>
        </p:txBody>
      </p:sp>
      <p:sp>
        <p:nvSpPr>
          <p:cNvPr id="6" name="TextBox 5"/>
          <p:cNvSpPr txBox="1"/>
          <p:nvPr/>
        </p:nvSpPr>
        <p:spPr>
          <a:xfrm>
            <a:off x="731520" y="3017520"/>
            <a:ext cx="10515600" cy="457200"/>
          </a:xfrm>
          <a:prstGeom prst="rect">
            <a:avLst/>
          </a:prstGeom>
          <a:noFill/>
        </p:spPr>
        <p:txBody>
          <a:bodyPr wrap="square"/>
          <a:lstStyle/>
          <a:p>
            <a:pPr algn="l">
              <a:defRPr sz="1800" b="0">
                <a:solidFill>
                  <a:srgbClr val="00F0FF"/>
                </a:solidFill>
                <a:latin typeface="Calibri"/>
              </a:defRPr>
            </a:pPr>
            <a:r>
              <a:t>HCL × Tamil Nadu Startup Pitch 2026</a:t>
            </a:r>
          </a:p>
        </p:txBody>
      </p:sp>
      <p:sp>
        <p:nvSpPr>
          <p:cNvPr id="7" name="TextBox 6"/>
          <p:cNvSpPr txBox="1"/>
          <p:nvPr/>
        </p:nvSpPr>
        <p:spPr>
          <a:xfrm>
            <a:off x="731520" y="3657600"/>
            <a:ext cx="10515600" cy="365760"/>
          </a:xfrm>
          <a:prstGeom prst="rect">
            <a:avLst/>
          </a:prstGeom>
          <a:noFill/>
        </p:spPr>
        <p:txBody>
          <a:bodyPr wrap="square"/>
          <a:lstStyle/>
          <a:p>
            <a:pPr algn="l">
              <a:defRPr sz="1400" b="0">
                <a:solidFill>
                  <a:srgbClr val="CADCFC"/>
                </a:solidFill>
                <a:latin typeface="Calibri"/>
              </a:defRPr>
            </a:pPr>
            <a:r>
              <a:t>The predictive ML layer Tamil Nadu’s healthcare digitisation is missing.</a:t>
            </a:r>
          </a:p>
        </p:txBody>
      </p:sp>
      <p:sp>
        <p:nvSpPr>
          <p:cNvPr id="8" name="Rectangle 7"/>
          <p:cNvSpPr/>
          <p:nvPr/>
        </p:nvSpPr>
        <p:spPr>
          <a:xfrm>
            <a:off x="731520" y="4846320"/>
            <a:ext cx="2103120" cy="10972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983480"/>
            <a:ext cx="1828800" cy="502920"/>
          </a:xfrm>
          <a:prstGeom prst="rect">
            <a:avLst/>
          </a:prstGeom>
          <a:noFill/>
        </p:spPr>
        <p:txBody>
          <a:bodyPr wrap="square"/>
          <a:lstStyle/>
          <a:p>
            <a:pPr algn="l">
              <a:defRPr sz="2800" b="1">
                <a:solidFill>
                  <a:srgbClr val="00F0FF"/>
                </a:solidFill>
                <a:latin typeface="Calibri"/>
              </a:defRPr>
            </a:pPr>
            <a:r>
              <a:t>7</a:t>
            </a:r>
          </a:p>
        </p:txBody>
      </p:sp>
      <p:sp>
        <p:nvSpPr>
          <p:cNvPr id="10" name="TextBox 9"/>
          <p:cNvSpPr txBox="1"/>
          <p:nvPr/>
        </p:nvSpPr>
        <p:spPr>
          <a:xfrm>
            <a:off x="868680" y="5486400"/>
            <a:ext cx="1828800" cy="457200"/>
          </a:xfrm>
          <a:prstGeom prst="rect">
            <a:avLst/>
          </a:prstGeom>
          <a:noFill/>
        </p:spPr>
        <p:txBody>
          <a:bodyPr wrap="square"/>
          <a:lstStyle/>
          <a:p>
            <a:pPr algn="l">
              <a:defRPr sz="1100" b="0">
                <a:solidFill>
                  <a:srgbClr val="CADCFC"/>
                </a:solidFill>
                <a:latin typeface="Calibri"/>
              </a:defRPr>
            </a:pPr>
            <a:r>
              <a:t>ML Models</a:t>
            </a:r>
          </a:p>
        </p:txBody>
      </p:sp>
      <p:sp>
        <p:nvSpPr>
          <p:cNvPr id="11" name="Rectangle 10"/>
          <p:cNvSpPr/>
          <p:nvPr/>
        </p:nvSpPr>
        <p:spPr>
          <a:xfrm>
            <a:off x="2971800" y="4846320"/>
            <a:ext cx="2103120" cy="10972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4983480"/>
            <a:ext cx="1828800" cy="502920"/>
          </a:xfrm>
          <a:prstGeom prst="rect">
            <a:avLst/>
          </a:prstGeom>
          <a:noFill/>
        </p:spPr>
        <p:txBody>
          <a:bodyPr wrap="square"/>
          <a:lstStyle/>
          <a:p>
            <a:pPr algn="l">
              <a:defRPr sz="2800" b="1">
                <a:solidFill>
                  <a:srgbClr val="00F0FF"/>
                </a:solidFill>
                <a:latin typeface="Calibri"/>
              </a:defRPr>
            </a:pPr>
            <a:r>
              <a:t>58/58</a:t>
            </a:r>
          </a:p>
        </p:txBody>
      </p:sp>
      <p:sp>
        <p:nvSpPr>
          <p:cNvPr id="13" name="TextBox 12"/>
          <p:cNvSpPr txBox="1"/>
          <p:nvPr/>
        </p:nvSpPr>
        <p:spPr>
          <a:xfrm>
            <a:off x="3108960" y="5486400"/>
            <a:ext cx="1828800" cy="457200"/>
          </a:xfrm>
          <a:prstGeom prst="rect">
            <a:avLst/>
          </a:prstGeom>
          <a:noFill/>
        </p:spPr>
        <p:txBody>
          <a:bodyPr wrap="square"/>
          <a:lstStyle/>
          <a:p>
            <a:pPr algn="l">
              <a:defRPr sz="1100" b="0">
                <a:solidFill>
                  <a:srgbClr val="CADCFC"/>
                </a:solidFill>
                <a:latin typeface="Calibri"/>
              </a:defRPr>
            </a:pPr>
            <a:r>
              <a:t>Tests Passing</a:t>
            </a:r>
          </a:p>
        </p:txBody>
      </p:sp>
      <p:sp>
        <p:nvSpPr>
          <p:cNvPr id="14" name="Rectangle 13"/>
          <p:cNvSpPr/>
          <p:nvPr/>
        </p:nvSpPr>
        <p:spPr>
          <a:xfrm>
            <a:off x="5212080" y="4846320"/>
            <a:ext cx="2103120" cy="10972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4983480"/>
            <a:ext cx="1828800" cy="502920"/>
          </a:xfrm>
          <a:prstGeom prst="rect">
            <a:avLst/>
          </a:prstGeom>
          <a:noFill/>
        </p:spPr>
        <p:txBody>
          <a:bodyPr wrap="square"/>
          <a:lstStyle/>
          <a:p>
            <a:pPr algn="l">
              <a:defRPr sz="2800" b="1">
                <a:solidFill>
                  <a:srgbClr val="00F0FF"/>
                </a:solidFill>
                <a:latin typeface="Calibri"/>
              </a:defRPr>
            </a:pPr>
            <a:r>
              <a:t>36</a:t>
            </a:r>
          </a:p>
        </p:txBody>
      </p:sp>
      <p:sp>
        <p:nvSpPr>
          <p:cNvPr id="16" name="TextBox 15"/>
          <p:cNvSpPr txBox="1"/>
          <p:nvPr/>
        </p:nvSpPr>
        <p:spPr>
          <a:xfrm>
            <a:off x="5349240" y="5486400"/>
            <a:ext cx="1828800" cy="457200"/>
          </a:xfrm>
          <a:prstGeom prst="rect">
            <a:avLst/>
          </a:prstGeom>
          <a:noFill/>
        </p:spPr>
        <p:txBody>
          <a:bodyPr wrap="square"/>
          <a:lstStyle/>
          <a:p>
            <a:pPr algn="l">
              <a:defRPr sz="1100" b="0">
                <a:solidFill>
                  <a:srgbClr val="CADCFC"/>
                </a:solidFill>
                <a:latin typeface="Calibri"/>
              </a:defRPr>
            </a:pPr>
            <a:r>
              <a:t>States Covered</a:t>
            </a:r>
          </a:p>
        </p:txBody>
      </p:sp>
      <p:sp>
        <p:nvSpPr>
          <p:cNvPr id="17" name="Rectangle 16"/>
          <p:cNvSpPr/>
          <p:nvPr/>
        </p:nvSpPr>
        <p:spPr>
          <a:xfrm>
            <a:off x="7452360" y="4846320"/>
            <a:ext cx="2103120" cy="10972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4983480"/>
            <a:ext cx="1828800" cy="502920"/>
          </a:xfrm>
          <a:prstGeom prst="rect">
            <a:avLst/>
          </a:prstGeom>
          <a:noFill/>
        </p:spPr>
        <p:txBody>
          <a:bodyPr wrap="square"/>
          <a:lstStyle/>
          <a:p>
            <a:pPr algn="l">
              <a:defRPr sz="2800" b="1">
                <a:solidFill>
                  <a:srgbClr val="00F0FF"/>
                </a:solidFill>
                <a:latin typeface="Calibri"/>
              </a:defRPr>
            </a:pPr>
            <a:r>
              <a:t>1.6M+</a:t>
            </a:r>
          </a:p>
        </p:txBody>
      </p:sp>
      <p:sp>
        <p:nvSpPr>
          <p:cNvPr id="19" name="TextBox 18"/>
          <p:cNvSpPr txBox="1"/>
          <p:nvPr/>
        </p:nvSpPr>
        <p:spPr>
          <a:xfrm>
            <a:off x="7589520" y="5486400"/>
            <a:ext cx="1828800" cy="457200"/>
          </a:xfrm>
          <a:prstGeom prst="rect">
            <a:avLst/>
          </a:prstGeom>
          <a:noFill/>
        </p:spPr>
        <p:txBody>
          <a:bodyPr wrap="square"/>
          <a:lstStyle/>
          <a:p>
            <a:pPr algn="l">
              <a:defRPr sz="1100" b="0">
                <a:solidFill>
                  <a:srgbClr val="CADCFC"/>
                </a:solidFill>
                <a:latin typeface="Calibri"/>
              </a:defRPr>
            </a:pPr>
            <a:r>
              <a:t>Records</a:t>
            </a:r>
          </a:p>
        </p:txBody>
      </p:sp>
      <p:sp>
        <p:nvSpPr>
          <p:cNvPr id="20" name="Rectangle 19"/>
          <p:cNvSpPr/>
          <p:nvPr/>
        </p:nvSpPr>
        <p:spPr>
          <a:xfrm>
            <a:off x="9692640" y="4846320"/>
            <a:ext cx="2103120" cy="10972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800" y="4983480"/>
            <a:ext cx="1828800" cy="502920"/>
          </a:xfrm>
          <a:prstGeom prst="rect">
            <a:avLst/>
          </a:prstGeom>
          <a:noFill/>
        </p:spPr>
        <p:txBody>
          <a:bodyPr wrap="square"/>
          <a:lstStyle/>
          <a:p>
            <a:pPr algn="l">
              <a:defRPr sz="2800" b="1">
                <a:solidFill>
                  <a:srgbClr val="00F0FF"/>
                </a:solidFill>
                <a:latin typeface="Calibri"/>
              </a:defRPr>
            </a:pPr>
            <a:r>
              <a:t>3-Tier</a:t>
            </a:r>
          </a:p>
        </p:txBody>
      </p:sp>
      <p:sp>
        <p:nvSpPr>
          <p:cNvPr id="22" name="TextBox 21"/>
          <p:cNvSpPr txBox="1"/>
          <p:nvPr/>
        </p:nvSpPr>
        <p:spPr>
          <a:xfrm>
            <a:off x="9829800" y="5486400"/>
            <a:ext cx="1828800" cy="457200"/>
          </a:xfrm>
          <a:prstGeom prst="rect">
            <a:avLst/>
          </a:prstGeom>
          <a:noFill/>
        </p:spPr>
        <p:txBody>
          <a:bodyPr wrap="square"/>
          <a:lstStyle/>
          <a:p>
            <a:pPr algn="l">
              <a:defRPr sz="1100" b="0">
                <a:solidFill>
                  <a:srgbClr val="CADCFC"/>
                </a:solidFill>
                <a:latin typeface="Calibri"/>
              </a:defRPr>
            </a:pPr>
            <a:r>
              <a:t>Fallback System</a:t>
            </a:r>
          </a:p>
        </p:txBody>
      </p:sp>
      <p:sp>
        <p:nvSpPr>
          <p:cNvPr id="23" name="Rectangle 22"/>
          <p:cNvSpPr/>
          <p:nvPr/>
        </p:nvSpPr>
        <p:spPr>
          <a:xfrm>
            <a:off x="0" y="6803136"/>
            <a:ext cx="12191695" cy="54864"/>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The Problem</a:t>
            </a:r>
          </a:p>
        </p:txBody>
      </p:sp>
      <p:sp>
        <p:nvSpPr>
          <p:cNvPr id="3" name="TextBox 2"/>
          <p:cNvSpPr txBox="1"/>
          <p:nvPr/>
        </p:nvSpPr>
        <p:spPr>
          <a:xfrm>
            <a:off x="731520" y="1005840"/>
            <a:ext cx="10515600" cy="365760"/>
          </a:xfrm>
          <a:prstGeom prst="rect">
            <a:avLst/>
          </a:prstGeom>
          <a:noFill/>
        </p:spPr>
        <p:txBody>
          <a:bodyPr wrap="square"/>
          <a:lstStyle/>
          <a:p>
            <a:pPr algn="l">
              <a:defRPr sz="1600" b="0">
                <a:solidFill>
                  <a:srgbClr val="33384D"/>
                </a:solidFill>
                <a:latin typeface="Calibri"/>
              </a:defRPr>
            </a:pPr>
            <a:r>
              <a:t>Tamil Nadu’s healthcare system is digitised but not intelligent. Data exists. Prediction doesn’t.</a:t>
            </a:r>
          </a:p>
        </p:txBody>
      </p:sp>
      <p:sp>
        <p:nvSpPr>
          <p:cNvPr id="4" name="Rectangle 3"/>
          <p:cNvSpPr/>
          <p:nvPr/>
        </p:nvSpPr>
        <p:spPr>
          <a:xfrm>
            <a:off x="731520" y="1645920"/>
            <a:ext cx="3474720" cy="23774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3108960" cy="320040"/>
          </a:xfrm>
          <a:prstGeom prst="rect">
            <a:avLst/>
          </a:prstGeom>
          <a:noFill/>
        </p:spPr>
        <p:txBody>
          <a:bodyPr wrap="square"/>
          <a:lstStyle/>
          <a:p>
            <a:pPr algn="l">
              <a:defRPr sz="1500" b="1">
                <a:solidFill>
                  <a:srgbClr val="1E2761"/>
                </a:solidFill>
                <a:latin typeface="Calibri"/>
              </a:defRPr>
            </a:pPr>
            <a:r>
              <a:t>Reactive, Not Predictive</a:t>
            </a:r>
          </a:p>
        </p:txBody>
      </p:sp>
      <p:sp>
        <p:nvSpPr>
          <p:cNvPr id="6" name="TextBox 5"/>
          <p:cNvSpPr txBox="1"/>
          <p:nvPr/>
        </p:nvSpPr>
        <p:spPr>
          <a:xfrm>
            <a:off x="914400" y="2286000"/>
            <a:ext cx="3108960" cy="1554480"/>
          </a:xfrm>
          <a:prstGeom prst="rect">
            <a:avLst/>
          </a:prstGeom>
          <a:noFill/>
        </p:spPr>
        <p:txBody>
          <a:bodyPr wrap="square"/>
          <a:lstStyle/>
          <a:p>
            <a:pPr algn="l">
              <a:defRPr sz="1200" b="0">
                <a:solidFill>
                  <a:srgbClr val="33384D"/>
                </a:solidFill>
                <a:latin typeface="Calibri"/>
              </a:defRPr>
            </a:pPr>
            <a:r>
              <a:t>Hospitals discover bed shortages, outbreaks, and mortality surges only after they happen. No ML layer to forecast what’s coming.</a:t>
            </a:r>
          </a:p>
        </p:txBody>
      </p:sp>
      <p:sp>
        <p:nvSpPr>
          <p:cNvPr id="7" name="Rectangle 6"/>
          <p:cNvSpPr/>
          <p:nvPr/>
        </p:nvSpPr>
        <p:spPr>
          <a:xfrm>
            <a:off x="4480559" y="1645920"/>
            <a:ext cx="3474720" cy="23774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39" y="1783080"/>
            <a:ext cx="3108960" cy="320040"/>
          </a:xfrm>
          <a:prstGeom prst="rect">
            <a:avLst/>
          </a:prstGeom>
          <a:noFill/>
        </p:spPr>
        <p:txBody>
          <a:bodyPr wrap="square"/>
          <a:lstStyle/>
          <a:p>
            <a:pPr algn="l">
              <a:defRPr sz="1500" b="1">
                <a:solidFill>
                  <a:srgbClr val="1E2761"/>
                </a:solidFill>
                <a:latin typeface="Calibri"/>
              </a:defRPr>
            </a:pPr>
            <a:r>
              <a:t>Fragmented Decision Tools</a:t>
            </a:r>
          </a:p>
        </p:txBody>
      </p:sp>
      <p:sp>
        <p:nvSpPr>
          <p:cNvPr id="9" name="TextBox 8"/>
          <p:cNvSpPr txBox="1"/>
          <p:nvPr/>
        </p:nvSpPr>
        <p:spPr>
          <a:xfrm>
            <a:off x="4663439" y="2286000"/>
            <a:ext cx="3108960" cy="1554480"/>
          </a:xfrm>
          <a:prstGeom prst="rect">
            <a:avLst/>
          </a:prstGeom>
          <a:noFill/>
        </p:spPr>
        <p:txBody>
          <a:bodyPr wrap="square"/>
          <a:lstStyle/>
          <a:p>
            <a:pPr algn="l">
              <a:defRPr sz="1200" b="0">
                <a:solidFill>
                  <a:srgbClr val="33384D"/>
                </a:solidFill>
                <a:latin typeface="Calibri"/>
              </a:defRPr>
            </a:pPr>
            <a:r>
              <a:t>HMIS records data. Excel tracks inventory. WhatsApp coordinates response. No unified command center with real-time AI inference.</a:t>
            </a:r>
          </a:p>
        </p:txBody>
      </p:sp>
      <p:sp>
        <p:nvSpPr>
          <p:cNvPr id="10" name="Rectangle 9"/>
          <p:cNvSpPr/>
          <p:nvPr/>
        </p:nvSpPr>
        <p:spPr>
          <a:xfrm>
            <a:off x="8229598" y="1645920"/>
            <a:ext cx="3474720" cy="23774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8" y="1783080"/>
            <a:ext cx="3108960" cy="320040"/>
          </a:xfrm>
          <a:prstGeom prst="rect">
            <a:avLst/>
          </a:prstGeom>
          <a:noFill/>
        </p:spPr>
        <p:txBody>
          <a:bodyPr wrap="square"/>
          <a:lstStyle/>
          <a:p>
            <a:pPr algn="l">
              <a:defRPr sz="1500" b="1">
                <a:solidFill>
                  <a:srgbClr val="1E2761"/>
                </a:solidFill>
                <a:latin typeface="Calibri"/>
              </a:defRPr>
            </a:pPr>
            <a:r>
              <a:t>Silent Rural Gap</a:t>
            </a:r>
          </a:p>
        </p:txBody>
      </p:sp>
      <p:sp>
        <p:nvSpPr>
          <p:cNvPr id="12" name="TextBox 11"/>
          <p:cNvSpPr txBox="1"/>
          <p:nvPr/>
        </p:nvSpPr>
        <p:spPr>
          <a:xfrm>
            <a:off x="8412478" y="2286000"/>
            <a:ext cx="3108960" cy="1554480"/>
          </a:xfrm>
          <a:prstGeom prst="rect">
            <a:avLst/>
          </a:prstGeom>
          <a:noFill/>
        </p:spPr>
        <p:txBody>
          <a:bodyPr wrap="square"/>
          <a:lstStyle/>
          <a:p>
            <a:pPr algn="l">
              <a:defRPr sz="1200" b="0">
                <a:solidFill>
                  <a:srgbClr val="33384D"/>
                </a:solidFill>
                <a:latin typeface="Calibri"/>
              </a:defRPr>
            </a:pPr>
            <a:r>
              <a:t>Rural TN hospitals have the least data access but face the highest pandemic risk. No offline-capable, gracefully-degrading prediction system.</a:t>
            </a:r>
          </a:p>
        </p:txBody>
      </p:sp>
      <p:sp>
        <p:nvSpPr>
          <p:cNvPr id="13" name="Rectangle 12"/>
          <p:cNvSpPr/>
          <p:nvPr/>
        </p:nvSpPr>
        <p:spPr>
          <a:xfrm>
            <a:off x="731520" y="4572000"/>
            <a:ext cx="2606040" cy="164592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663440"/>
            <a:ext cx="2331720" cy="548640"/>
          </a:xfrm>
          <a:prstGeom prst="rect">
            <a:avLst/>
          </a:prstGeom>
          <a:noFill/>
        </p:spPr>
        <p:txBody>
          <a:bodyPr wrap="square"/>
          <a:lstStyle/>
          <a:p>
            <a:pPr algn="l">
              <a:defRPr sz="2600" b="1">
                <a:solidFill>
                  <a:srgbClr val="00F0FF"/>
                </a:solidFill>
                <a:latin typeface="Calibri"/>
              </a:defRPr>
            </a:pPr>
            <a:r>
              <a:t>70,000+</a:t>
            </a:r>
          </a:p>
        </p:txBody>
      </p:sp>
      <p:sp>
        <p:nvSpPr>
          <p:cNvPr id="15" name="TextBox 14"/>
          <p:cNvSpPr txBox="1"/>
          <p:nvPr/>
        </p:nvSpPr>
        <p:spPr>
          <a:xfrm>
            <a:off x="868680" y="5212080"/>
            <a:ext cx="2331720" cy="822960"/>
          </a:xfrm>
          <a:prstGeom prst="rect">
            <a:avLst/>
          </a:prstGeom>
          <a:noFill/>
        </p:spPr>
        <p:txBody>
          <a:bodyPr wrap="square"/>
          <a:lstStyle/>
          <a:p>
            <a:pPr algn="l">
              <a:defRPr sz="1100" b="0">
                <a:solidFill>
                  <a:srgbClr val="CADCFC"/>
                </a:solidFill>
                <a:latin typeface="Calibri"/>
              </a:defRPr>
            </a:pPr>
            <a:r>
              <a:t>Hospitals in India</a:t>
            </a:r>
            <a:br/>
            <a:r>
              <a:t>&lt;5% use AI for ops</a:t>
            </a:r>
          </a:p>
        </p:txBody>
      </p:sp>
      <p:sp>
        <p:nvSpPr>
          <p:cNvPr id="16" name="Rectangle 15"/>
          <p:cNvSpPr/>
          <p:nvPr/>
        </p:nvSpPr>
        <p:spPr>
          <a:xfrm>
            <a:off x="3611880" y="4572000"/>
            <a:ext cx="2606040" cy="164592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0" y="4663440"/>
            <a:ext cx="2331720" cy="548640"/>
          </a:xfrm>
          <a:prstGeom prst="rect">
            <a:avLst/>
          </a:prstGeom>
          <a:noFill/>
        </p:spPr>
        <p:txBody>
          <a:bodyPr wrap="square"/>
          <a:lstStyle/>
          <a:p>
            <a:pPr algn="l">
              <a:defRPr sz="2600" b="1">
                <a:solidFill>
                  <a:srgbClr val="00F0FF"/>
                </a:solidFill>
                <a:latin typeface="Calibri"/>
              </a:defRPr>
            </a:pPr>
            <a:r>
              <a:t>1.3B</a:t>
            </a:r>
          </a:p>
        </p:txBody>
      </p:sp>
      <p:sp>
        <p:nvSpPr>
          <p:cNvPr id="18" name="TextBox 17"/>
          <p:cNvSpPr txBox="1"/>
          <p:nvPr/>
        </p:nvSpPr>
        <p:spPr>
          <a:xfrm>
            <a:off x="3749040" y="5212080"/>
            <a:ext cx="2331720" cy="822960"/>
          </a:xfrm>
          <a:prstGeom prst="rect">
            <a:avLst/>
          </a:prstGeom>
          <a:noFill/>
        </p:spPr>
        <p:txBody>
          <a:bodyPr wrap="square"/>
          <a:lstStyle/>
          <a:p>
            <a:pPr algn="l">
              <a:defRPr sz="1100" b="0">
                <a:solidFill>
                  <a:srgbClr val="CADCFC"/>
                </a:solidFill>
                <a:latin typeface="Calibri"/>
              </a:defRPr>
            </a:pPr>
            <a:r>
              <a:t>India healthcare AI</a:t>
            </a:r>
            <a:br/>
            <a:r>
              <a:t>market by 2028</a:t>
            </a:r>
          </a:p>
        </p:txBody>
      </p:sp>
      <p:sp>
        <p:nvSpPr>
          <p:cNvPr id="19" name="Rectangle 18"/>
          <p:cNvSpPr/>
          <p:nvPr/>
        </p:nvSpPr>
        <p:spPr>
          <a:xfrm>
            <a:off x="6492240" y="4572000"/>
            <a:ext cx="2606040" cy="164592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4663440"/>
            <a:ext cx="2331720" cy="548640"/>
          </a:xfrm>
          <a:prstGeom prst="rect">
            <a:avLst/>
          </a:prstGeom>
          <a:noFill/>
        </p:spPr>
        <p:txBody>
          <a:bodyPr wrap="square"/>
          <a:lstStyle/>
          <a:p>
            <a:pPr algn="l">
              <a:defRPr sz="2600" b="1">
                <a:solidFill>
                  <a:srgbClr val="00F0FF"/>
                </a:solidFill>
                <a:latin typeface="Calibri"/>
              </a:defRPr>
            </a:pPr>
            <a:r>
              <a:t>60%</a:t>
            </a:r>
          </a:p>
        </p:txBody>
      </p:sp>
      <p:sp>
        <p:nvSpPr>
          <p:cNvPr id="21" name="TextBox 20"/>
          <p:cNvSpPr txBox="1"/>
          <p:nvPr/>
        </p:nvSpPr>
        <p:spPr>
          <a:xfrm>
            <a:off x="6629400" y="5212080"/>
            <a:ext cx="2331720" cy="822960"/>
          </a:xfrm>
          <a:prstGeom prst="rect">
            <a:avLst/>
          </a:prstGeom>
          <a:noFill/>
        </p:spPr>
        <p:txBody>
          <a:bodyPr wrap="square"/>
          <a:lstStyle/>
          <a:p>
            <a:pPr algn="l">
              <a:defRPr sz="1100" b="0">
                <a:solidFill>
                  <a:srgbClr val="CADCFC"/>
                </a:solidFill>
                <a:latin typeface="Calibri"/>
              </a:defRPr>
            </a:pPr>
            <a:r>
              <a:t>Faster response with</a:t>
            </a:r>
            <a:br/>
            <a:r>
              <a:t>ML-driven triage</a:t>
            </a:r>
          </a:p>
        </p:txBody>
      </p:sp>
      <p:sp>
        <p:nvSpPr>
          <p:cNvPr id="22" name="Rectangle 21"/>
          <p:cNvSpPr/>
          <p:nvPr/>
        </p:nvSpPr>
        <p:spPr>
          <a:xfrm>
            <a:off x="9372600" y="4572000"/>
            <a:ext cx="2606040" cy="164592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0" y="4663440"/>
            <a:ext cx="2331720" cy="548640"/>
          </a:xfrm>
          <a:prstGeom prst="rect">
            <a:avLst/>
          </a:prstGeom>
          <a:noFill/>
        </p:spPr>
        <p:txBody>
          <a:bodyPr wrap="square"/>
          <a:lstStyle/>
          <a:p>
            <a:pPr algn="l">
              <a:defRPr sz="2600" b="1">
                <a:solidFill>
                  <a:srgbClr val="00F0FF"/>
                </a:solidFill>
                <a:latin typeface="Calibri"/>
              </a:defRPr>
            </a:pPr>
            <a:r>
              <a:t>36</a:t>
            </a:r>
          </a:p>
        </p:txBody>
      </p:sp>
      <p:sp>
        <p:nvSpPr>
          <p:cNvPr id="24" name="TextBox 23"/>
          <p:cNvSpPr txBox="1"/>
          <p:nvPr/>
        </p:nvSpPr>
        <p:spPr>
          <a:xfrm>
            <a:off x="9509760" y="5212080"/>
            <a:ext cx="2331720" cy="822960"/>
          </a:xfrm>
          <a:prstGeom prst="rect">
            <a:avLst/>
          </a:prstGeom>
          <a:noFill/>
        </p:spPr>
        <p:txBody>
          <a:bodyPr wrap="square"/>
          <a:lstStyle/>
          <a:p>
            <a:pPr algn="l">
              <a:defRPr sz="1100" b="0">
                <a:solidFill>
                  <a:srgbClr val="CADCFC"/>
                </a:solidFill>
                <a:latin typeface="Calibri"/>
              </a:defRPr>
            </a:pPr>
            <a:r>
              <a:t>Training states</a:t>
            </a:r>
            <a:br/>
            <a:r>
              <a:t>in synthetic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Our Solution</a:t>
            </a:r>
          </a:p>
        </p:txBody>
      </p:sp>
      <p:sp>
        <p:nvSpPr>
          <p:cNvPr id="3" name="TextBox 2"/>
          <p:cNvSpPr txBox="1"/>
          <p:nvPr/>
        </p:nvSpPr>
        <p:spPr>
          <a:xfrm>
            <a:off x="731520" y="960120"/>
            <a:ext cx="10515600" cy="457200"/>
          </a:xfrm>
          <a:prstGeom prst="rect">
            <a:avLst/>
          </a:prstGeom>
          <a:noFill/>
        </p:spPr>
        <p:txBody>
          <a:bodyPr wrap="square"/>
          <a:lstStyle/>
          <a:p>
            <a:pPr algn="l">
              <a:defRPr sz="1600" b="0">
                <a:solidFill>
                  <a:srgbClr val="33384D"/>
                </a:solidFill>
                <a:latin typeface="Calibri"/>
              </a:defRPr>
            </a:pPr>
            <a:r>
              <a:t>HOSPi is the AI command center that plugs into India’s existing health infrastructure and predicts what happens next.</a:t>
            </a:r>
          </a:p>
        </p:txBody>
      </p:sp>
      <p:sp>
        <p:nvSpPr>
          <p:cNvPr id="4" name="Rectangle 3"/>
          <p:cNvSpPr/>
          <p:nvPr/>
        </p:nvSpPr>
        <p:spPr>
          <a:xfrm>
            <a:off x="731520" y="1645920"/>
            <a:ext cx="3474720" cy="10058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783080"/>
            <a:ext cx="365760" cy="365760"/>
          </a:xfrm>
          <a:prstGeom prst="ellipse">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defRPr>
            </a:pPr>
            <a:r>
              <a:t>01</a:t>
            </a:r>
          </a:p>
        </p:txBody>
      </p:sp>
      <p:sp>
        <p:nvSpPr>
          <p:cNvPr id="6" name="TextBox 5"/>
          <p:cNvSpPr txBox="1"/>
          <p:nvPr/>
        </p:nvSpPr>
        <p:spPr>
          <a:xfrm>
            <a:off x="1325880" y="1737360"/>
            <a:ext cx="2743200" cy="320040"/>
          </a:xfrm>
          <a:prstGeom prst="rect">
            <a:avLst/>
          </a:prstGeom>
          <a:noFill/>
        </p:spPr>
        <p:txBody>
          <a:bodyPr wrap="square"/>
          <a:lstStyle/>
          <a:p>
            <a:pPr algn="l">
              <a:defRPr sz="1300" b="1">
                <a:solidFill>
                  <a:srgbClr val="1A1A2E"/>
                </a:solidFill>
                <a:latin typeface="Calibri"/>
              </a:defRPr>
            </a:pPr>
            <a:r>
              <a:t>Bed Forecasting</a:t>
            </a:r>
          </a:p>
        </p:txBody>
      </p:sp>
      <p:sp>
        <p:nvSpPr>
          <p:cNvPr id="7" name="TextBox 6"/>
          <p:cNvSpPr txBox="1"/>
          <p:nvPr/>
        </p:nvSpPr>
        <p:spPr>
          <a:xfrm>
            <a:off x="1325880" y="2057400"/>
            <a:ext cx="2743200" cy="502920"/>
          </a:xfrm>
          <a:prstGeom prst="rect">
            <a:avLst/>
          </a:prstGeom>
          <a:noFill/>
        </p:spPr>
        <p:txBody>
          <a:bodyPr wrap="square"/>
          <a:lstStyle/>
          <a:p>
            <a:pPr algn="l">
              <a:defRPr sz="1000" b="0">
                <a:solidFill>
                  <a:srgbClr val="6B728A"/>
                </a:solidFill>
                <a:latin typeface="Calibri"/>
              </a:defRPr>
            </a:pPr>
            <a:r>
              <a:t>GradientBoosting model predicts ward-level availability (Gen/ICU/Maternity/Emerg) 3–24 months ahead. R² 0.64.</a:t>
            </a:r>
          </a:p>
        </p:txBody>
      </p:sp>
      <p:sp>
        <p:nvSpPr>
          <p:cNvPr id="8" name="Rectangle 7"/>
          <p:cNvSpPr/>
          <p:nvPr/>
        </p:nvSpPr>
        <p:spPr>
          <a:xfrm>
            <a:off x="4480559" y="1645920"/>
            <a:ext cx="3474720" cy="10058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17719" y="1783080"/>
            <a:ext cx="365760" cy="365760"/>
          </a:xfrm>
          <a:prstGeom prst="ellipse">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defRPr>
            </a:pPr>
            <a:r>
              <a:t>02</a:t>
            </a:r>
          </a:p>
        </p:txBody>
      </p:sp>
      <p:sp>
        <p:nvSpPr>
          <p:cNvPr id="10" name="TextBox 9"/>
          <p:cNvSpPr txBox="1"/>
          <p:nvPr/>
        </p:nvSpPr>
        <p:spPr>
          <a:xfrm>
            <a:off x="5074919" y="1737360"/>
            <a:ext cx="2743200" cy="320040"/>
          </a:xfrm>
          <a:prstGeom prst="rect">
            <a:avLst/>
          </a:prstGeom>
          <a:noFill/>
        </p:spPr>
        <p:txBody>
          <a:bodyPr wrap="square"/>
          <a:lstStyle/>
          <a:p>
            <a:pPr algn="l">
              <a:defRPr sz="1300" b="1">
                <a:solidFill>
                  <a:srgbClr val="1A1A2E"/>
                </a:solidFill>
                <a:latin typeface="Calibri"/>
              </a:defRPr>
            </a:pPr>
            <a:r>
              <a:t>Mortality Prediction</a:t>
            </a:r>
          </a:p>
        </p:txBody>
      </p:sp>
      <p:sp>
        <p:nvSpPr>
          <p:cNvPr id="11" name="TextBox 10"/>
          <p:cNvSpPr txBox="1"/>
          <p:nvPr/>
        </p:nvSpPr>
        <p:spPr>
          <a:xfrm>
            <a:off x="5074919" y="2057400"/>
            <a:ext cx="2743200" cy="502920"/>
          </a:xfrm>
          <a:prstGeom prst="rect">
            <a:avLst/>
          </a:prstGeom>
          <a:noFill/>
        </p:spPr>
        <p:txBody>
          <a:bodyPr wrap="square"/>
          <a:lstStyle/>
          <a:p>
            <a:pPr algn="l">
              <a:defRPr sz="1000" b="0">
                <a:solidFill>
                  <a:srgbClr val="6B728A"/>
                </a:solidFill>
                <a:latin typeface="Calibri"/>
              </a:defRPr>
            </a:pPr>
            <a:r>
              <a:t>XGBoost model scores death rates by district, age group, and cause. R² 0.85. Chronological train/test split.</a:t>
            </a:r>
          </a:p>
        </p:txBody>
      </p:sp>
      <p:sp>
        <p:nvSpPr>
          <p:cNvPr id="12" name="Rectangle 11"/>
          <p:cNvSpPr/>
          <p:nvPr/>
        </p:nvSpPr>
        <p:spPr>
          <a:xfrm>
            <a:off x="8229600" y="1645920"/>
            <a:ext cx="3474720" cy="10058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66760" y="1783080"/>
            <a:ext cx="365760" cy="365760"/>
          </a:xfrm>
          <a:prstGeom prst="ellipse">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defRPr>
            </a:pPr>
            <a:r>
              <a:t>03</a:t>
            </a:r>
          </a:p>
        </p:txBody>
      </p:sp>
      <p:sp>
        <p:nvSpPr>
          <p:cNvPr id="14" name="TextBox 13"/>
          <p:cNvSpPr txBox="1"/>
          <p:nvPr/>
        </p:nvSpPr>
        <p:spPr>
          <a:xfrm>
            <a:off x="8823960" y="1737360"/>
            <a:ext cx="2743200" cy="320040"/>
          </a:xfrm>
          <a:prstGeom prst="rect">
            <a:avLst/>
          </a:prstGeom>
          <a:noFill/>
        </p:spPr>
        <p:txBody>
          <a:bodyPr wrap="square"/>
          <a:lstStyle/>
          <a:p>
            <a:pPr algn="l">
              <a:defRPr sz="1300" b="1">
                <a:solidFill>
                  <a:srgbClr val="1A1A2E"/>
                </a:solidFill>
                <a:latin typeface="Calibri"/>
              </a:defRPr>
            </a:pPr>
            <a:r>
              <a:t>Outbreak Forecasting</a:t>
            </a:r>
          </a:p>
        </p:txBody>
      </p:sp>
      <p:sp>
        <p:nvSpPr>
          <p:cNvPr id="15" name="TextBox 14"/>
          <p:cNvSpPr txBox="1"/>
          <p:nvPr/>
        </p:nvSpPr>
        <p:spPr>
          <a:xfrm>
            <a:off x="8823960" y="2057400"/>
            <a:ext cx="2743200" cy="502920"/>
          </a:xfrm>
          <a:prstGeom prst="rect">
            <a:avLst/>
          </a:prstGeom>
          <a:noFill/>
        </p:spPr>
        <p:txBody>
          <a:bodyPr wrap="square"/>
          <a:lstStyle/>
          <a:p>
            <a:pPr algn="l">
              <a:defRPr sz="1000" b="0">
                <a:solidFill>
                  <a:srgbClr val="6B728A"/>
                </a:solidFill>
                <a:latin typeface="Calibri"/>
              </a:defRPr>
            </a:pPr>
            <a:r>
              <a:t>XGBoost predicts case/death counts with MAPE 9.8% (cases), 13.8% (deaths). Pandemic what-if simulations.</a:t>
            </a:r>
          </a:p>
        </p:txBody>
      </p:sp>
      <p:sp>
        <p:nvSpPr>
          <p:cNvPr id="16" name="Rectangle 15"/>
          <p:cNvSpPr/>
          <p:nvPr/>
        </p:nvSpPr>
        <p:spPr>
          <a:xfrm>
            <a:off x="731520" y="4023360"/>
            <a:ext cx="3474720" cy="10058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4160520"/>
            <a:ext cx="365760" cy="36576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defRPr>
            </a:pPr>
            <a:r>
              <a:t>04</a:t>
            </a:r>
          </a:p>
        </p:txBody>
      </p:sp>
      <p:sp>
        <p:nvSpPr>
          <p:cNvPr id="18" name="TextBox 17"/>
          <p:cNvSpPr txBox="1"/>
          <p:nvPr/>
        </p:nvSpPr>
        <p:spPr>
          <a:xfrm>
            <a:off x="1325880" y="4114800"/>
            <a:ext cx="2743200" cy="320040"/>
          </a:xfrm>
          <a:prstGeom prst="rect">
            <a:avLst/>
          </a:prstGeom>
          <a:noFill/>
        </p:spPr>
        <p:txBody>
          <a:bodyPr wrap="square"/>
          <a:lstStyle/>
          <a:p>
            <a:pPr algn="l">
              <a:defRPr sz="1300" b="1">
                <a:solidFill>
                  <a:srgbClr val="1A1A2E"/>
                </a:solidFill>
                <a:latin typeface="Calibri"/>
              </a:defRPr>
            </a:pPr>
            <a:r>
              <a:t>Patient Risk Scoring</a:t>
            </a:r>
          </a:p>
        </p:txBody>
      </p:sp>
      <p:sp>
        <p:nvSpPr>
          <p:cNvPr id="19" name="TextBox 18"/>
          <p:cNvSpPr txBox="1"/>
          <p:nvPr/>
        </p:nvSpPr>
        <p:spPr>
          <a:xfrm>
            <a:off x="1325880" y="4434840"/>
            <a:ext cx="2743200" cy="502920"/>
          </a:xfrm>
          <a:prstGeom prst="rect">
            <a:avLst/>
          </a:prstGeom>
          <a:noFill/>
        </p:spPr>
        <p:txBody>
          <a:bodyPr wrap="square"/>
          <a:lstStyle/>
          <a:p>
            <a:pPr algn="l">
              <a:defRPr sz="1000" b="0">
                <a:solidFill>
                  <a:srgbClr val="6B728A"/>
                </a:solidFill>
                <a:latin typeface="Calibri"/>
              </a:defRPr>
            </a:pPr>
            <a:r>
              <a:t>3-model ensemble (RF + GB + XGB) scores individual patient pandemic risk. 18–88% score range verified.</a:t>
            </a:r>
          </a:p>
        </p:txBody>
      </p:sp>
      <p:sp>
        <p:nvSpPr>
          <p:cNvPr id="20" name="Rectangle 19"/>
          <p:cNvSpPr/>
          <p:nvPr/>
        </p:nvSpPr>
        <p:spPr>
          <a:xfrm>
            <a:off x="4480559" y="4023360"/>
            <a:ext cx="3474720" cy="10058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17719" y="4160520"/>
            <a:ext cx="365760" cy="36576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defRPr>
            </a:pPr>
            <a:r>
              <a:t>05</a:t>
            </a:r>
          </a:p>
        </p:txBody>
      </p:sp>
      <p:sp>
        <p:nvSpPr>
          <p:cNvPr id="22" name="TextBox 21"/>
          <p:cNvSpPr txBox="1"/>
          <p:nvPr/>
        </p:nvSpPr>
        <p:spPr>
          <a:xfrm>
            <a:off x="5074919" y="4114800"/>
            <a:ext cx="2743200" cy="320040"/>
          </a:xfrm>
          <a:prstGeom prst="rect">
            <a:avLst/>
          </a:prstGeom>
          <a:noFill/>
        </p:spPr>
        <p:txBody>
          <a:bodyPr wrap="square"/>
          <a:lstStyle/>
          <a:p>
            <a:pPr algn="l">
              <a:defRPr sz="1300" b="1">
                <a:solidFill>
                  <a:srgbClr val="1A1A2E"/>
                </a:solidFill>
                <a:latin typeface="Calibri"/>
              </a:defRPr>
            </a:pPr>
            <a:r>
              <a:t>AI Assistant</a:t>
            </a:r>
          </a:p>
        </p:txBody>
      </p:sp>
      <p:sp>
        <p:nvSpPr>
          <p:cNvPr id="23" name="TextBox 22"/>
          <p:cNvSpPr txBox="1"/>
          <p:nvPr/>
        </p:nvSpPr>
        <p:spPr>
          <a:xfrm>
            <a:off x="5074919" y="4434840"/>
            <a:ext cx="2743200" cy="502920"/>
          </a:xfrm>
          <a:prstGeom prst="rect">
            <a:avLst/>
          </a:prstGeom>
          <a:noFill/>
        </p:spPr>
        <p:txBody>
          <a:bodyPr wrap="square"/>
          <a:lstStyle/>
          <a:p>
            <a:pPr algn="l">
              <a:defRPr sz="1000" b="0">
                <a:solidFill>
                  <a:srgbClr val="6B728A"/>
                </a:solidFill>
                <a:latin typeface="Calibri"/>
              </a:defRPr>
            </a:pPr>
            <a:r>
              <a:t>Gemini-powered RAG chatbot. Extracts entities (state, disease, date) from natural language. Context-aware recommendations.</a:t>
            </a:r>
          </a:p>
        </p:txBody>
      </p:sp>
      <p:sp>
        <p:nvSpPr>
          <p:cNvPr id="24" name="Rectangle 23"/>
          <p:cNvSpPr/>
          <p:nvPr/>
        </p:nvSpPr>
        <p:spPr>
          <a:xfrm>
            <a:off x="8229600" y="4023360"/>
            <a:ext cx="3474720" cy="100584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66760" y="4160520"/>
            <a:ext cx="365760" cy="36576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defRPr>
            </a:pPr>
            <a:r>
              <a:t>06</a:t>
            </a:r>
          </a:p>
        </p:txBody>
      </p:sp>
      <p:sp>
        <p:nvSpPr>
          <p:cNvPr id="26" name="TextBox 25"/>
          <p:cNvSpPr txBox="1"/>
          <p:nvPr/>
        </p:nvSpPr>
        <p:spPr>
          <a:xfrm>
            <a:off x="8823960" y="4114800"/>
            <a:ext cx="2743200" cy="320040"/>
          </a:xfrm>
          <a:prstGeom prst="rect">
            <a:avLst/>
          </a:prstGeom>
          <a:noFill/>
        </p:spPr>
        <p:txBody>
          <a:bodyPr wrap="square"/>
          <a:lstStyle/>
          <a:p>
            <a:pPr algn="l">
              <a:defRPr sz="1300" b="1">
                <a:solidFill>
                  <a:srgbClr val="1A1A2E"/>
                </a:solidFill>
                <a:latin typeface="Calibri"/>
              </a:defRPr>
            </a:pPr>
            <a:r>
              <a:t>Hospital Ranking</a:t>
            </a:r>
          </a:p>
        </p:txBody>
      </p:sp>
      <p:sp>
        <p:nvSpPr>
          <p:cNvPr id="27" name="TextBox 26"/>
          <p:cNvSpPr txBox="1"/>
          <p:nvPr/>
        </p:nvSpPr>
        <p:spPr>
          <a:xfrm>
            <a:off x="8823960" y="4434840"/>
            <a:ext cx="2743200" cy="502920"/>
          </a:xfrm>
          <a:prstGeom prst="rect">
            <a:avLst/>
          </a:prstGeom>
          <a:noFill/>
        </p:spPr>
        <p:txBody>
          <a:bodyPr wrap="square"/>
          <a:lstStyle/>
          <a:p>
            <a:pPr algn="l">
              <a:defRPr sz="1000" b="0">
                <a:solidFill>
                  <a:srgbClr val="6B728A"/>
                </a:solidFill>
                <a:latin typeface="Calibri"/>
              </a:defRPr>
            </a:pPr>
            <a:r>
              <a:t>RandomForest model ranks facilities by capacity. Real-time dashboards with system health polling every 30s.</a:t>
            </a:r>
          </a:p>
        </p:txBody>
      </p:sp>
      <p:sp>
        <p:nvSpPr>
          <p:cNvPr id="28" name="TextBox 27"/>
          <p:cNvSpPr txBox="1"/>
          <p:nvPr/>
        </p:nvSpPr>
        <p:spPr>
          <a:xfrm>
            <a:off x="731520" y="6309360"/>
            <a:ext cx="10515600" cy="365760"/>
          </a:xfrm>
          <a:prstGeom prst="rect">
            <a:avLst/>
          </a:prstGeom>
          <a:noFill/>
        </p:spPr>
        <p:txBody>
          <a:bodyPr wrap="square"/>
          <a:lstStyle/>
          <a:p>
            <a:pPr algn="ctr">
              <a:defRPr sz="1200" b="0">
                <a:solidFill>
                  <a:srgbClr val="6B728A"/>
                </a:solidFill>
                <a:latin typeface="Calibri"/>
              </a:defRPr>
            </a:pPr>
            <a:r>
              <a:t>Every capability tested: 58/58 tests pass | Full TypeScript frontend | 16-table SQL schema | 1.6M+ synthetic records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Why This Is Hard</a:t>
            </a:r>
          </a:p>
        </p:txBody>
      </p:sp>
      <p:sp>
        <p:nvSpPr>
          <p:cNvPr id="3" name="TextBox 2"/>
          <p:cNvSpPr txBox="1"/>
          <p:nvPr/>
        </p:nvSpPr>
        <p:spPr>
          <a:xfrm>
            <a:off x="731520" y="960120"/>
            <a:ext cx="10515600" cy="365760"/>
          </a:xfrm>
          <a:prstGeom prst="rect">
            <a:avLst/>
          </a:prstGeom>
          <a:noFill/>
        </p:spPr>
        <p:txBody>
          <a:bodyPr wrap="square"/>
          <a:lstStyle/>
          <a:p>
            <a:pPr algn="l">
              <a:defRPr sz="1600" b="0">
                <a:solidFill>
                  <a:srgbClr val="33384D"/>
                </a:solidFill>
                <a:latin typeface="Calibri"/>
              </a:defRPr>
            </a:pPr>
            <a:r>
              <a:t>Healthcare AI in India is not a model problem. It’s a systems engineering problem.</a:t>
            </a:r>
          </a:p>
        </p:txBody>
      </p:sp>
      <p:sp>
        <p:nvSpPr>
          <p:cNvPr id="4" name="Rectangle 3"/>
          <p:cNvSpPr/>
          <p:nvPr/>
        </p:nvSpPr>
        <p:spPr>
          <a:xfrm>
            <a:off x="731520" y="1554480"/>
            <a:ext cx="5303520" cy="12801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937760" cy="320040"/>
          </a:xfrm>
          <a:prstGeom prst="rect">
            <a:avLst/>
          </a:prstGeom>
          <a:noFill/>
        </p:spPr>
        <p:txBody>
          <a:bodyPr wrap="square"/>
          <a:lstStyle/>
          <a:p>
            <a:pPr algn="l">
              <a:defRPr sz="1500" b="1">
                <a:solidFill>
                  <a:srgbClr val="1E2761"/>
                </a:solidFill>
                <a:latin typeface="Calibri"/>
              </a:defRPr>
            </a:pPr>
            <a:r>
              <a:t>7 ML Models</a:t>
            </a:r>
          </a:p>
        </p:txBody>
      </p:sp>
      <p:sp>
        <p:nvSpPr>
          <p:cNvPr id="6" name="TextBox 5"/>
          <p:cNvSpPr txBox="1"/>
          <p:nvPr/>
        </p:nvSpPr>
        <p:spPr>
          <a:xfrm>
            <a:off x="914400" y="2103120"/>
            <a:ext cx="4937760" cy="548640"/>
          </a:xfrm>
          <a:prstGeom prst="rect">
            <a:avLst/>
          </a:prstGeom>
          <a:noFill/>
        </p:spPr>
        <p:txBody>
          <a:bodyPr wrap="square"/>
          <a:lstStyle/>
          <a:p>
            <a:pPr algn="l">
              <a:defRPr sz="1100" b="0">
                <a:solidFill>
                  <a:srgbClr val="33384D"/>
                </a:solidFill>
                <a:latin typeface="Calibri"/>
              </a:defRPr>
            </a:pPr>
            <a:r>
              <a:t>GradientBoosting, XGBoost, RandomForest, ensemble — each tuned for a specific clinical prediction task</a:t>
            </a:r>
          </a:p>
        </p:txBody>
      </p:sp>
      <p:sp>
        <p:nvSpPr>
          <p:cNvPr id="7" name="Rectangle 6"/>
          <p:cNvSpPr/>
          <p:nvPr/>
        </p:nvSpPr>
        <p:spPr>
          <a:xfrm>
            <a:off x="6309359" y="1554480"/>
            <a:ext cx="5303520" cy="12801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39" y="1691640"/>
            <a:ext cx="4937760" cy="320040"/>
          </a:xfrm>
          <a:prstGeom prst="rect">
            <a:avLst/>
          </a:prstGeom>
          <a:noFill/>
        </p:spPr>
        <p:txBody>
          <a:bodyPr wrap="square"/>
          <a:lstStyle/>
          <a:p>
            <a:pPr algn="l">
              <a:defRPr sz="1500" b="1">
                <a:solidFill>
                  <a:srgbClr val="1E2761"/>
                </a:solidFill>
                <a:latin typeface="Calibri"/>
              </a:defRPr>
            </a:pPr>
            <a:r>
              <a:t>3-Tier Graceful Fallback</a:t>
            </a:r>
          </a:p>
        </p:txBody>
      </p:sp>
      <p:sp>
        <p:nvSpPr>
          <p:cNvPr id="9" name="TextBox 8"/>
          <p:cNvSpPr txBox="1"/>
          <p:nvPr/>
        </p:nvSpPr>
        <p:spPr>
          <a:xfrm>
            <a:off x="6492239" y="2103120"/>
            <a:ext cx="4937760" cy="548640"/>
          </a:xfrm>
          <a:prstGeom prst="rect">
            <a:avLst/>
          </a:prstGeom>
          <a:noFill/>
        </p:spPr>
        <p:txBody>
          <a:bodyPr wrap="square"/>
          <a:lstStyle/>
          <a:p>
            <a:pPr algn="l">
              <a:defRPr sz="1100" b="0">
                <a:solidFill>
                  <a:srgbClr val="33384D"/>
                </a:solidFill>
                <a:latin typeface="Calibri"/>
              </a:defRPr>
            </a:pPr>
            <a:r>
              <a:t>Every prediction degrades gracefully: ML model → DB trend → estimated. Zero silent failures.</a:t>
            </a:r>
          </a:p>
        </p:txBody>
      </p:sp>
      <p:sp>
        <p:nvSpPr>
          <p:cNvPr id="10" name="Rectangle 9"/>
          <p:cNvSpPr/>
          <p:nvPr/>
        </p:nvSpPr>
        <p:spPr>
          <a:xfrm>
            <a:off x="731520" y="3108960"/>
            <a:ext cx="5303520" cy="12801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46120"/>
            <a:ext cx="4937760" cy="320040"/>
          </a:xfrm>
          <a:prstGeom prst="rect">
            <a:avLst/>
          </a:prstGeom>
          <a:noFill/>
        </p:spPr>
        <p:txBody>
          <a:bodyPr wrap="square"/>
          <a:lstStyle/>
          <a:p>
            <a:pPr algn="l">
              <a:defRPr sz="1500" b="1">
                <a:solidFill>
                  <a:srgbClr val="1E2761"/>
                </a:solidFill>
                <a:latin typeface="Calibri"/>
              </a:defRPr>
            </a:pPr>
            <a:r>
              <a:t>RAG AI Assistant</a:t>
            </a:r>
          </a:p>
        </p:txBody>
      </p:sp>
      <p:sp>
        <p:nvSpPr>
          <p:cNvPr id="12" name="TextBox 11"/>
          <p:cNvSpPr txBox="1"/>
          <p:nvPr/>
        </p:nvSpPr>
        <p:spPr>
          <a:xfrm>
            <a:off x="914400" y="3657600"/>
            <a:ext cx="4937760" cy="548640"/>
          </a:xfrm>
          <a:prstGeom prst="rect">
            <a:avLst/>
          </a:prstGeom>
          <a:noFill/>
        </p:spPr>
        <p:txBody>
          <a:bodyPr wrap="square"/>
          <a:lstStyle/>
          <a:p>
            <a:pPr algn="l">
              <a:defRPr sz="1100" b="0">
                <a:solidFill>
                  <a:srgbClr val="33384D"/>
                </a:solidFill>
                <a:latin typeface="Calibri"/>
              </a:defRPr>
            </a:pPr>
            <a:r>
              <a:t>Gemini with entity extraction (state, disease, date). Word-boundary validation prevents alias collisions.</a:t>
            </a:r>
          </a:p>
        </p:txBody>
      </p:sp>
      <p:sp>
        <p:nvSpPr>
          <p:cNvPr id="13" name="Rectangle 12"/>
          <p:cNvSpPr/>
          <p:nvPr/>
        </p:nvSpPr>
        <p:spPr>
          <a:xfrm>
            <a:off x="6309359" y="3108960"/>
            <a:ext cx="5303520" cy="12801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39" y="3246120"/>
            <a:ext cx="4937760" cy="320040"/>
          </a:xfrm>
          <a:prstGeom prst="rect">
            <a:avLst/>
          </a:prstGeom>
          <a:noFill/>
        </p:spPr>
        <p:txBody>
          <a:bodyPr wrap="square"/>
          <a:lstStyle/>
          <a:p>
            <a:pPr algn="l">
              <a:defRPr sz="1500" b="1">
                <a:solidFill>
                  <a:srgbClr val="1E2761"/>
                </a:solidFill>
                <a:latin typeface="Calibri"/>
              </a:defRPr>
            </a:pPr>
            <a:r>
              <a:t>1.6M+ Records</a:t>
            </a:r>
          </a:p>
        </p:txBody>
      </p:sp>
      <p:sp>
        <p:nvSpPr>
          <p:cNvPr id="15" name="TextBox 14"/>
          <p:cNvSpPr txBox="1"/>
          <p:nvPr/>
        </p:nvSpPr>
        <p:spPr>
          <a:xfrm>
            <a:off x="6492239" y="3657600"/>
            <a:ext cx="4937760" cy="548640"/>
          </a:xfrm>
          <a:prstGeom prst="rect">
            <a:avLst/>
          </a:prstGeom>
          <a:noFill/>
        </p:spPr>
        <p:txBody>
          <a:bodyPr wrap="square"/>
          <a:lstStyle/>
          <a:p>
            <a:pPr algn="l">
              <a:defRPr sz="1100" b="0">
                <a:solidFill>
                  <a:srgbClr val="33384D"/>
                </a:solidFill>
                <a:latin typeface="Calibri"/>
              </a:defRPr>
            </a:pPr>
            <a:r>
              <a:t>Synthetic data anchored to real Indian census demographics, 36 states, 700+ districts, 6 diseases.</a:t>
            </a:r>
          </a:p>
        </p:txBody>
      </p:sp>
      <p:sp>
        <p:nvSpPr>
          <p:cNvPr id="16" name="Rectangle 15"/>
          <p:cNvSpPr/>
          <p:nvPr/>
        </p:nvSpPr>
        <p:spPr>
          <a:xfrm>
            <a:off x="731520" y="4663440"/>
            <a:ext cx="5303520" cy="12801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00600"/>
            <a:ext cx="4937760" cy="320040"/>
          </a:xfrm>
          <a:prstGeom prst="rect">
            <a:avLst/>
          </a:prstGeom>
          <a:noFill/>
        </p:spPr>
        <p:txBody>
          <a:bodyPr wrap="square"/>
          <a:lstStyle/>
          <a:p>
            <a:pPr algn="l">
              <a:defRPr sz="1500" b="1">
                <a:solidFill>
                  <a:srgbClr val="1E2761"/>
                </a:solidFill>
                <a:latin typeface="Calibri"/>
              </a:defRPr>
            </a:pPr>
            <a:r>
              <a:t>16-Table Schema</a:t>
            </a:r>
          </a:p>
        </p:txBody>
      </p:sp>
      <p:sp>
        <p:nvSpPr>
          <p:cNvPr id="18" name="TextBox 17"/>
          <p:cNvSpPr txBox="1"/>
          <p:nvPr/>
        </p:nvSpPr>
        <p:spPr>
          <a:xfrm>
            <a:off x="914400" y="5212079"/>
            <a:ext cx="4937760" cy="548640"/>
          </a:xfrm>
          <a:prstGeom prst="rect">
            <a:avLst/>
          </a:prstGeom>
          <a:noFill/>
        </p:spPr>
        <p:txBody>
          <a:bodyPr wrap="square"/>
          <a:lstStyle/>
          <a:p>
            <a:pPr algn="l">
              <a:defRPr sz="1100" b="0">
                <a:solidFill>
                  <a:srgbClr val="33384D"/>
                </a:solidFill>
                <a:latin typeface="Calibri"/>
              </a:defRPr>
            </a:pPr>
            <a:r>
              <a:t>Normalized relational model: patients, vaccines, travel, family history, admissions, outcomes, registry + audit logs.</a:t>
            </a:r>
          </a:p>
        </p:txBody>
      </p:sp>
      <p:sp>
        <p:nvSpPr>
          <p:cNvPr id="19" name="Rectangle 18"/>
          <p:cNvSpPr/>
          <p:nvPr/>
        </p:nvSpPr>
        <p:spPr>
          <a:xfrm>
            <a:off x="6309359" y="4663440"/>
            <a:ext cx="5303520" cy="12801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39" y="4800600"/>
            <a:ext cx="4937760" cy="320040"/>
          </a:xfrm>
          <a:prstGeom prst="rect">
            <a:avLst/>
          </a:prstGeom>
          <a:noFill/>
        </p:spPr>
        <p:txBody>
          <a:bodyPr wrap="square"/>
          <a:lstStyle/>
          <a:p>
            <a:pPr algn="l">
              <a:defRPr sz="1500" b="1">
                <a:solidFill>
                  <a:srgbClr val="1E2761"/>
                </a:solidFill>
                <a:latin typeface="Calibri"/>
              </a:defRPr>
            </a:pPr>
            <a:r>
              <a:t>Production ML Pipeline</a:t>
            </a:r>
          </a:p>
        </p:txBody>
      </p:sp>
      <p:sp>
        <p:nvSpPr>
          <p:cNvPr id="21" name="TextBox 20"/>
          <p:cNvSpPr txBox="1"/>
          <p:nvPr/>
        </p:nvSpPr>
        <p:spPr>
          <a:xfrm>
            <a:off x="6492239" y="5212079"/>
            <a:ext cx="4937760" cy="548640"/>
          </a:xfrm>
          <a:prstGeom prst="rect">
            <a:avLst/>
          </a:prstGeom>
          <a:noFill/>
        </p:spPr>
        <p:txBody>
          <a:bodyPr wrap="square"/>
          <a:lstStyle/>
          <a:p>
            <a:pPr algn="l">
              <a:defRPr sz="1100" b="0">
                <a:solidFill>
                  <a:srgbClr val="33384D"/>
                </a:solidFill>
                <a:latin typeface="Calibri"/>
              </a:defRPr>
            </a:pPr>
            <a:r>
              <a:t>Pickle-serialized models with metadata. Feature engineering mirrors inference. prediction_log tracks every call.</a:t>
            </a:r>
          </a:p>
        </p:txBody>
      </p:sp>
      <p:sp>
        <p:nvSpPr>
          <p:cNvPr id="22" name="Rectangle 21"/>
          <p:cNvSpPr/>
          <p:nvPr/>
        </p:nvSpPr>
        <p:spPr>
          <a:xfrm>
            <a:off x="731520" y="5760720"/>
            <a:ext cx="10698480" cy="82296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852160"/>
            <a:ext cx="10332720" cy="640080"/>
          </a:xfrm>
          <a:prstGeom prst="rect">
            <a:avLst/>
          </a:prstGeom>
          <a:noFill/>
        </p:spPr>
        <p:txBody>
          <a:bodyPr wrap="square"/>
          <a:lstStyle/>
          <a:p>
            <a:pPr algn="l">
              <a:defRPr sz="1300" b="0">
                <a:solidFill>
                  <a:srgbClr val="CADCFC"/>
                </a:solidFill>
                <a:latin typeface="Calibri"/>
              </a:defRPr>
            </a:pPr>
            <a:r>
              <a:t>“The hardest part wasn’t building the models. It was making them reliable enough that a doctor in rural TN can trust the prediction even when the network goes down.”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Architecture</a:t>
            </a:r>
          </a:p>
        </p:txBody>
      </p:sp>
      <p:sp>
        <p:nvSpPr>
          <p:cNvPr id="3" name="TextBox 2"/>
          <p:cNvSpPr txBox="1"/>
          <p:nvPr/>
        </p:nvSpPr>
        <p:spPr>
          <a:xfrm>
            <a:off x="731520" y="960120"/>
            <a:ext cx="10515600" cy="365760"/>
          </a:xfrm>
          <a:prstGeom prst="rect">
            <a:avLst/>
          </a:prstGeom>
          <a:noFill/>
        </p:spPr>
        <p:txBody>
          <a:bodyPr wrap="square"/>
          <a:lstStyle/>
          <a:p>
            <a:pPr algn="l">
              <a:defRPr sz="1600" b="0">
                <a:solidFill>
                  <a:srgbClr val="33384D"/>
                </a:solidFill>
                <a:latin typeface="Calibri"/>
              </a:defRPr>
            </a:pPr>
            <a:r>
              <a:t>Three-tier system with ML at the core and graceful degradation at every level.</a:t>
            </a:r>
          </a:p>
        </p:txBody>
      </p:sp>
      <p:sp>
        <p:nvSpPr>
          <p:cNvPr id="4" name="Rectangle 3"/>
          <p:cNvSpPr/>
          <p:nvPr/>
        </p:nvSpPr>
        <p:spPr>
          <a:xfrm>
            <a:off x="731520" y="1554480"/>
            <a:ext cx="3474720" cy="411480"/>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72768"/>
            <a:ext cx="3474720" cy="365760"/>
          </a:xfrm>
          <a:prstGeom prst="rect">
            <a:avLst/>
          </a:prstGeom>
          <a:noFill/>
        </p:spPr>
        <p:txBody>
          <a:bodyPr wrap="square"/>
          <a:lstStyle/>
          <a:p>
            <a:pPr algn="ctr">
              <a:defRPr sz="1400" b="1">
                <a:solidFill>
                  <a:srgbClr val="FFFFFF"/>
                </a:solidFill>
                <a:latin typeface="Calibri"/>
              </a:defRPr>
            </a:pPr>
            <a:r>
              <a:t>FRONTEND</a:t>
            </a:r>
          </a:p>
        </p:txBody>
      </p:sp>
      <p:sp>
        <p:nvSpPr>
          <p:cNvPr id="6" name="Rectangle 5"/>
          <p:cNvSpPr/>
          <p:nvPr/>
        </p:nvSpPr>
        <p:spPr>
          <a:xfrm>
            <a:off x="731520" y="1965960"/>
            <a:ext cx="3474720" cy="22860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3108960" cy="2011680"/>
          </a:xfrm>
          <a:prstGeom prst="rect">
            <a:avLst/>
          </a:prstGeom>
          <a:noFill/>
        </p:spPr>
        <p:txBody>
          <a:bodyPr wrap="square"/>
          <a:lstStyle/>
          <a:p>
            <a:pPr algn="l">
              <a:defRPr sz="1100" b="0">
                <a:solidFill>
                  <a:srgbClr val="33384D"/>
                </a:solidFill>
                <a:latin typeface="Calibri"/>
              </a:defRPr>
            </a:pPr>
            <a:r>
              <a:t>React 19 + TypeScript + Vite 8</a:t>
            </a:r>
            <a:br/>
            <a:r>
              <a:t>Tailwind v4 Dark Theme</a:t>
            </a:r>
            <a:br/>
            <a:r>
              <a:t>8 interactive dashboards</a:t>
            </a:r>
            <a:br/>
            <a:r>
              <a:t>Command palette + keyboard nav</a:t>
            </a:r>
            <a:br/>
            <a:r>
              <a:t>Recharts + SVG charts</a:t>
            </a:r>
          </a:p>
        </p:txBody>
      </p:sp>
      <p:sp>
        <p:nvSpPr>
          <p:cNvPr id="8" name="Right Arrow 7"/>
          <p:cNvSpPr/>
          <p:nvPr/>
        </p:nvSpPr>
        <p:spPr>
          <a:xfrm>
            <a:off x="4251960" y="2651760"/>
            <a:ext cx="274320" cy="228600"/>
          </a:xfrm>
          <a:prstGeom prst="rightArrow">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59" y="1554480"/>
            <a:ext cx="347472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572768"/>
            <a:ext cx="3474720" cy="365760"/>
          </a:xfrm>
          <a:prstGeom prst="rect">
            <a:avLst/>
          </a:prstGeom>
          <a:noFill/>
        </p:spPr>
        <p:txBody>
          <a:bodyPr wrap="square"/>
          <a:lstStyle/>
          <a:p>
            <a:pPr algn="ctr">
              <a:defRPr sz="1400" b="1">
                <a:solidFill>
                  <a:srgbClr val="FFFFFF"/>
                </a:solidFill>
                <a:latin typeface="Calibri"/>
              </a:defRPr>
            </a:pPr>
            <a:r>
              <a:t>BACKEND API</a:t>
            </a:r>
          </a:p>
        </p:txBody>
      </p:sp>
      <p:sp>
        <p:nvSpPr>
          <p:cNvPr id="11" name="Rectangle 10"/>
          <p:cNvSpPr/>
          <p:nvPr/>
        </p:nvSpPr>
        <p:spPr>
          <a:xfrm>
            <a:off x="4480559" y="1965960"/>
            <a:ext cx="3474720" cy="22860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39" y="2103120"/>
            <a:ext cx="3108960" cy="2011680"/>
          </a:xfrm>
          <a:prstGeom prst="rect">
            <a:avLst/>
          </a:prstGeom>
          <a:noFill/>
        </p:spPr>
        <p:txBody>
          <a:bodyPr wrap="square"/>
          <a:lstStyle/>
          <a:p>
            <a:pPr algn="l">
              <a:defRPr sz="1100" b="0">
                <a:solidFill>
                  <a:srgbClr val="33384D"/>
                </a:solidFill>
                <a:latin typeface="Calibri"/>
              </a:defRPr>
            </a:pPr>
            <a:r>
              <a:t>FastAPI + Python 3.12</a:t>
            </a:r>
            <a:br/>
            <a:r>
              <a:t>JWT auth + Google OAuth</a:t>
            </a:r>
            <a:br/>
            <a:r>
              <a:t>40+ REST endpoints</a:t>
            </a:r>
            <a:br/>
            <a:r>
              <a:t>Gemini RAG AI Assistant</a:t>
            </a:r>
            <a:br/>
            <a:r>
              <a:t>Rate-limited, CORS-enabled</a:t>
            </a:r>
          </a:p>
        </p:txBody>
      </p:sp>
      <p:sp>
        <p:nvSpPr>
          <p:cNvPr id="13" name="Right Arrow 12"/>
          <p:cNvSpPr/>
          <p:nvPr/>
        </p:nvSpPr>
        <p:spPr>
          <a:xfrm>
            <a:off x="8000999" y="2651760"/>
            <a:ext cx="274320" cy="228600"/>
          </a:xfrm>
          <a:prstGeom prst="rightArrow">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598" y="1554480"/>
            <a:ext cx="347472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8" y="1572768"/>
            <a:ext cx="3474720" cy="365760"/>
          </a:xfrm>
          <a:prstGeom prst="rect">
            <a:avLst/>
          </a:prstGeom>
          <a:noFill/>
        </p:spPr>
        <p:txBody>
          <a:bodyPr wrap="square"/>
          <a:lstStyle/>
          <a:p>
            <a:pPr algn="ctr">
              <a:defRPr sz="1400" b="1">
                <a:solidFill>
                  <a:srgbClr val="FFFFFF"/>
                </a:solidFill>
                <a:latin typeface="Calibri"/>
              </a:defRPr>
            </a:pPr>
            <a:r>
              <a:t>ML PIPELINE</a:t>
            </a:r>
          </a:p>
        </p:txBody>
      </p:sp>
      <p:sp>
        <p:nvSpPr>
          <p:cNvPr id="16" name="Rectangle 15"/>
          <p:cNvSpPr/>
          <p:nvPr/>
        </p:nvSpPr>
        <p:spPr>
          <a:xfrm>
            <a:off x="8229598" y="1965960"/>
            <a:ext cx="3474720" cy="22860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8" y="2103120"/>
            <a:ext cx="3108960" cy="2011680"/>
          </a:xfrm>
          <a:prstGeom prst="rect">
            <a:avLst/>
          </a:prstGeom>
          <a:noFill/>
        </p:spPr>
        <p:txBody>
          <a:bodyPr wrap="square"/>
          <a:lstStyle/>
          <a:p>
            <a:pPr algn="l">
              <a:defRPr sz="1100" b="0">
                <a:solidFill>
                  <a:srgbClr val="33384D"/>
                </a:solidFill>
                <a:latin typeface="Calibri"/>
              </a:defRPr>
            </a:pPr>
            <a:r>
              <a:t>7 Pickle-serialized models</a:t>
            </a:r>
            <a:br/>
            <a:r>
              <a:t>Feature engineering pipeline</a:t>
            </a:r>
            <a:br/>
            <a:r>
              <a:t>3-tier fallback chain</a:t>
            </a:r>
            <a:br/>
            <a:r>
              <a:t>prediction_log audit trail</a:t>
            </a:r>
            <a:br/>
            <a:r>
              <a:t>Synthetic data generator</a:t>
            </a:r>
          </a:p>
        </p:txBody>
      </p:sp>
      <p:sp>
        <p:nvSpPr>
          <p:cNvPr id="18" name="Rectangle 17"/>
          <p:cNvSpPr/>
          <p:nvPr/>
        </p:nvSpPr>
        <p:spPr>
          <a:xfrm>
            <a:off x="731520" y="4572000"/>
            <a:ext cx="10698480" cy="18288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63440"/>
            <a:ext cx="10332720" cy="320040"/>
          </a:xfrm>
          <a:prstGeom prst="rect">
            <a:avLst/>
          </a:prstGeom>
          <a:noFill/>
        </p:spPr>
        <p:txBody>
          <a:bodyPr wrap="square"/>
          <a:lstStyle/>
          <a:p>
            <a:pPr algn="l">
              <a:defRPr sz="1300" b="1">
                <a:solidFill>
                  <a:srgbClr val="1E2761"/>
                </a:solidFill>
                <a:latin typeface="Calibri"/>
              </a:defRPr>
            </a:pPr>
            <a:r>
              <a:t>DATA LAYER  |  SQLite (dev) / PostgreSQL (production target)</a:t>
            </a:r>
          </a:p>
        </p:txBody>
      </p:sp>
      <p:sp>
        <p:nvSpPr>
          <p:cNvPr id="20" name="TextBox 19"/>
          <p:cNvSpPr txBox="1"/>
          <p:nvPr/>
        </p:nvSpPr>
        <p:spPr>
          <a:xfrm>
            <a:off x="914400" y="5029200"/>
            <a:ext cx="10332720" cy="1188720"/>
          </a:xfrm>
          <a:prstGeom prst="rect">
            <a:avLst/>
          </a:prstGeom>
          <a:noFill/>
        </p:spPr>
        <p:txBody>
          <a:bodyPr wrap="square">
            <a:spAutoFit/>
          </a:bodyPr>
          <a:lstStyle/>
          <a:p>
            <a:pPr>
              <a:spcAft>
                <a:spcPts val="600"/>
              </a:spcAft>
              <a:defRPr sz="1100">
                <a:solidFill>
                  <a:srgbClr val="33384D"/>
                </a:solidFill>
                <a:latin typeface="Calibri"/>
              </a:defRPr>
            </a:pPr>
            <a:r>
              <a:t>•  16 tables: patients, admissions, beds, mortality, vaccines, travel, family history, virus registry, prediction logs, users, summaries</a:t>
            </a:r>
          </a:p>
          <a:p>
            <a:pPr>
              <a:spcAft>
                <a:spcPts val="600"/>
              </a:spcAft>
              <a:defRPr sz="1100">
                <a:solidFill>
                  <a:srgbClr val="33384D"/>
                </a:solidFill>
                <a:latin typeface="Calibri"/>
              </a:defRPr>
            </a:pPr>
            <a:r>
              <a:t>•  1.64M+ records | 10,000+ patients | 6,870 travel records | 23,474 vaccine records | 5,671 family histories</a:t>
            </a:r>
          </a:p>
          <a:p>
            <a:pPr>
              <a:spcAft>
                <a:spcPts val="600"/>
              </a:spcAft>
              <a:defRPr sz="1100">
                <a:solidFill>
                  <a:srgbClr val="33384D"/>
                </a:solidFill>
                <a:latin typeface="Calibri"/>
              </a:defRPr>
            </a:pPr>
            <a:r>
              <a:t>•  Fallback chain: PostgreSQL (enterprise) → SQLite (dev/edge) — automatic detection at startup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ML Models &amp; Performance</a:t>
            </a:r>
          </a:p>
        </p:txBody>
      </p:sp>
      <p:sp>
        <p:nvSpPr>
          <p:cNvPr id="3" name="TextBox 2"/>
          <p:cNvSpPr txBox="1"/>
          <p:nvPr/>
        </p:nvSpPr>
        <p:spPr>
          <a:xfrm>
            <a:off x="731520" y="960120"/>
            <a:ext cx="10515600" cy="365760"/>
          </a:xfrm>
          <a:prstGeom prst="rect">
            <a:avLst/>
          </a:prstGeom>
          <a:noFill/>
        </p:spPr>
        <p:txBody>
          <a:bodyPr wrap="square"/>
          <a:lstStyle/>
          <a:p>
            <a:pPr algn="l">
              <a:defRPr sz="1600" b="0">
                <a:solidFill>
                  <a:srgbClr val="33384D"/>
                </a:solidFill>
                <a:latin typeface="Calibri"/>
              </a:defRPr>
            </a:pPr>
            <a:r>
              <a:t>Seven production-grade predictors. Each trained, validated, and benchmarked against real-world baselines.</a:t>
            </a:r>
          </a:p>
        </p:txBody>
      </p:sp>
      <p:sp>
        <p:nvSpPr>
          <p:cNvPr id="4" name="Rectangle 3"/>
          <p:cNvSpPr/>
          <p:nvPr/>
        </p:nvSpPr>
        <p:spPr>
          <a:xfrm>
            <a:off x="457200" y="1554480"/>
            <a:ext cx="1508760" cy="292608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1645920"/>
            <a:ext cx="1362456" cy="457200"/>
          </a:xfrm>
          <a:prstGeom prst="rect">
            <a:avLst/>
          </a:prstGeom>
          <a:noFill/>
        </p:spPr>
        <p:txBody>
          <a:bodyPr wrap="square"/>
          <a:lstStyle/>
          <a:p>
            <a:pPr algn="ctr">
              <a:defRPr sz="1100" b="1">
                <a:solidFill>
                  <a:srgbClr val="1E2761"/>
                </a:solidFill>
                <a:latin typeface="Calibri"/>
              </a:defRPr>
            </a:pPr>
            <a:r>
              <a:t>BedPredictor</a:t>
            </a:r>
          </a:p>
        </p:txBody>
      </p:sp>
      <p:sp>
        <p:nvSpPr>
          <p:cNvPr id="6" name="Rectangle 5"/>
          <p:cNvSpPr/>
          <p:nvPr/>
        </p:nvSpPr>
        <p:spPr>
          <a:xfrm>
            <a:off x="731520" y="2103120"/>
            <a:ext cx="960120" cy="2743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2194560"/>
            <a:ext cx="1362456" cy="548640"/>
          </a:xfrm>
          <a:prstGeom prst="rect">
            <a:avLst/>
          </a:prstGeom>
          <a:noFill/>
        </p:spPr>
        <p:txBody>
          <a:bodyPr wrap="square"/>
          <a:lstStyle/>
          <a:p>
            <a:pPr algn="ctr">
              <a:defRPr sz="900" b="0">
                <a:solidFill>
                  <a:srgbClr val="33384D"/>
                </a:solidFill>
                <a:latin typeface="Calibri"/>
              </a:defRPr>
            </a:pPr>
            <a:r>
              <a:t>GradientBoosting</a:t>
            </a:r>
            <a:br/>
            <a:r>
              <a:t>Regressor</a:t>
            </a:r>
          </a:p>
        </p:txBody>
      </p:sp>
      <p:sp>
        <p:nvSpPr>
          <p:cNvPr id="8" name="Rectangle 7"/>
          <p:cNvSpPr/>
          <p:nvPr/>
        </p:nvSpPr>
        <p:spPr>
          <a:xfrm>
            <a:off x="548640" y="2926080"/>
            <a:ext cx="132588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926080"/>
            <a:ext cx="1325880" cy="411480"/>
          </a:xfrm>
          <a:prstGeom prst="rect">
            <a:avLst/>
          </a:prstGeom>
          <a:noFill/>
        </p:spPr>
        <p:txBody>
          <a:bodyPr wrap="square"/>
          <a:lstStyle/>
          <a:p>
            <a:pPr algn="ctr">
              <a:defRPr sz="1000" b="1">
                <a:solidFill>
                  <a:srgbClr val="00F0FF"/>
                </a:solidFill>
                <a:latin typeface="Calibri"/>
              </a:defRPr>
            </a:pPr>
            <a:r>
              <a:t>R² 0.64</a:t>
            </a:r>
          </a:p>
        </p:txBody>
      </p:sp>
      <p:sp>
        <p:nvSpPr>
          <p:cNvPr id="10" name="TextBox 9"/>
          <p:cNvSpPr txBox="1"/>
          <p:nvPr/>
        </p:nvSpPr>
        <p:spPr>
          <a:xfrm>
            <a:off x="530352" y="3566160"/>
            <a:ext cx="1362456" cy="640080"/>
          </a:xfrm>
          <a:prstGeom prst="rect">
            <a:avLst/>
          </a:prstGeom>
          <a:noFill/>
        </p:spPr>
        <p:txBody>
          <a:bodyPr wrap="square"/>
          <a:lstStyle/>
          <a:p>
            <a:pPr algn="ctr">
              <a:defRPr sz="900" b="0">
                <a:solidFill>
                  <a:srgbClr val="6B728A"/>
                </a:solidFill>
                <a:latin typeface="Calibri"/>
              </a:defRPr>
            </a:pPr>
            <a:r>
              <a:t>Bed availability</a:t>
            </a:r>
            <a:br/>
            <a:r>
              <a:t>per state/ward</a:t>
            </a:r>
          </a:p>
        </p:txBody>
      </p:sp>
      <p:sp>
        <p:nvSpPr>
          <p:cNvPr id="11" name="Rectangle 10"/>
          <p:cNvSpPr/>
          <p:nvPr/>
        </p:nvSpPr>
        <p:spPr>
          <a:xfrm>
            <a:off x="2075688" y="1554480"/>
            <a:ext cx="1508760" cy="292608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48840" y="1645920"/>
            <a:ext cx="1362456" cy="457200"/>
          </a:xfrm>
          <a:prstGeom prst="rect">
            <a:avLst/>
          </a:prstGeom>
          <a:noFill/>
        </p:spPr>
        <p:txBody>
          <a:bodyPr wrap="square"/>
          <a:lstStyle/>
          <a:p>
            <a:pPr algn="ctr">
              <a:defRPr sz="1100" b="1">
                <a:solidFill>
                  <a:srgbClr val="1E2761"/>
                </a:solidFill>
                <a:latin typeface="Calibri"/>
              </a:defRPr>
            </a:pPr>
            <a:r>
              <a:t>Mortality</a:t>
            </a:r>
            <a:br/>
            <a:r>
              <a:t>Predictor</a:t>
            </a:r>
          </a:p>
        </p:txBody>
      </p:sp>
      <p:sp>
        <p:nvSpPr>
          <p:cNvPr id="13" name="Rectangle 12"/>
          <p:cNvSpPr/>
          <p:nvPr/>
        </p:nvSpPr>
        <p:spPr>
          <a:xfrm>
            <a:off x="2350008" y="2103120"/>
            <a:ext cx="960120" cy="2743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194560"/>
            <a:ext cx="1362456" cy="548640"/>
          </a:xfrm>
          <a:prstGeom prst="rect">
            <a:avLst/>
          </a:prstGeom>
          <a:noFill/>
        </p:spPr>
        <p:txBody>
          <a:bodyPr wrap="square"/>
          <a:lstStyle/>
          <a:p>
            <a:pPr algn="ctr">
              <a:defRPr sz="900" b="0">
                <a:solidFill>
                  <a:srgbClr val="33384D"/>
                </a:solidFill>
                <a:latin typeface="Calibri"/>
              </a:defRPr>
            </a:pPr>
            <a:r>
              <a:t>XGBoost</a:t>
            </a:r>
          </a:p>
        </p:txBody>
      </p:sp>
      <p:sp>
        <p:nvSpPr>
          <p:cNvPr id="15" name="Rectangle 14"/>
          <p:cNvSpPr/>
          <p:nvPr/>
        </p:nvSpPr>
        <p:spPr>
          <a:xfrm>
            <a:off x="2167128" y="2926080"/>
            <a:ext cx="132588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7128" y="2926080"/>
            <a:ext cx="1325880" cy="411480"/>
          </a:xfrm>
          <a:prstGeom prst="rect">
            <a:avLst/>
          </a:prstGeom>
          <a:noFill/>
        </p:spPr>
        <p:txBody>
          <a:bodyPr wrap="square"/>
          <a:lstStyle/>
          <a:p>
            <a:pPr algn="ctr">
              <a:defRPr sz="1000" b="1">
                <a:solidFill>
                  <a:srgbClr val="00F0FF"/>
                </a:solidFill>
                <a:latin typeface="Calibri"/>
              </a:defRPr>
            </a:pPr>
            <a:r>
              <a:t>R² 0.85</a:t>
            </a:r>
          </a:p>
        </p:txBody>
      </p:sp>
      <p:sp>
        <p:nvSpPr>
          <p:cNvPr id="17" name="TextBox 16"/>
          <p:cNvSpPr txBox="1"/>
          <p:nvPr/>
        </p:nvSpPr>
        <p:spPr>
          <a:xfrm>
            <a:off x="2148840" y="3566160"/>
            <a:ext cx="1362456" cy="640080"/>
          </a:xfrm>
          <a:prstGeom prst="rect">
            <a:avLst/>
          </a:prstGeom>
          <a:noFill/>
        </p:spPr>
        <p:txBody>
          <a:bodyPr wrap="square"/>
          <a:lstStyle/>
          <a:p>
            <a:pPr algn="ctr">
              <a:defRPr sz="900" b="0">
                <a:solidFill>
                  <a:srgbClr val="6B728A"/>
                </a:solidFill>
                <a:latin typeface="Calibri"/>
              </a:defRPr>
            </a:pPr>
            <a:r>
              <a:t>Death rates by</a:t>
            </a:r>
            <a:br/>
            <a:r>
              <a:t>district/age/cause</a:t>
            </a:r>
          </a:p>
        </p:txBody>
      </p:sp>
      <p:sp>
        <p:nvSpPr>
          <p:cNvPr id="18" name="Rectangle 17"/>
          <p:cNvSpPr/>
          <p:nvPr/>
        </p:nvSpPr>
        <p:spPr>
          <a:xfrm>
            <a:off x="3694176" y="1554480"/>
            <a:ext cx="1508760" cy="292608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7328" y="1645920"/>
            <a:ext cx="1362456" cy="457200"/>
          </a:xfrm>
          <a:prstGeom prst="rect">
            <a:avLst/>
          </a:prstGeom>
          <a:noFill/>
        </p:spPr>
        <p:txBody>
          <a:bodyPr wrap="square"/>
          <a:lstStyle/>
          <a:p>
            <a:pPr algn="ctr">
              <a:defRPr sz="1100" b="1">
                <a:solidFill>
                  <a:srgbClr val="1E2761"/>
                </a:solidFill>
                <a:latin typeface="Calibri"/>
              </a:defRPr>
            </a:pPr>
            <a:r>
              <a:t>Forecast</a:t>
            </a:r>
            <a:br/>
            <a:r>
              <a:t>Predictor</a:t>
            </a:r>
          </a:p>
        </p:txBody>
      </p:sp>
      <p:sp>
        <p:nvSpPr>
          <p:cNvPr id="20" name="Rectangle 19"/>
          <p:cNvSpPr/>
          <p:nvPr/>
        </p:nvSpPr>
        <p:spPr>
          <a:xfrm>
            <a:off x="3968496" y="2103120"/>
            <a:ext cx="960120" cy="2743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67328" y="2194560"/>
            <a:ext cx="1362456" cy="548640"/>
          </a:xfrm>
          <a:prstGeom prst="rect">
            <a:avLst/>
          </a:prstGeom>
          <a:noFill/>
        </p:spPr>
        <p:txBody>
          <a:bodyPr wrap="square"/>
          <a:lstStyle/>
          <a:p>
            <a:pPr algn="ctr">
              <a:defRPr sz="900" b="0">
                <a:solidFill>
                  <a:srgbClr val="33384D"/>
                </a:solidFill>
                <a:latin typeface="Calibri"/>
              </a:defRPr>
            </a:pPr>
            <a:r>
              <a:t>XGBoost</a:t>
            </a:r>
            <a:br/>
            <a:r>
              <a:t>(tuned)</a:t>
            </a:r>
          </a:p>
        </p:txBody>
      </p:sp>
      <p:sp>
        <p:nvSpPr>
          <p:cNvPr id="22" name="Rectangle 21"/>
          <p:cNvSpPr/>
          <p:nvPr/>
        </p:nvSpPr>
        <p:spPr>
          <a:xfrm>
            <a:off x="3785616" y="2926080"/>
            <a:ext cx="132588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85616" y="2926080"/>
            <a:ext cx="1325880" cy="411480"/>
          </a:xfrm>
          <a:prstGeom prst="rect">
            <a:avLst/>
          </a:prstGeom>
          <a:noFill/>
        </p:spPr>
        <p:txBody>
          <a:bodyPr wrap="square"/>
          <a:lstStyle/>
          <a:p>
            <a:pPr algn="ctr">
              <a:defRPr sz="1000" b="1">
                <a:solidFill>
                  <a:srgbClr val="00F0FF"/>
                </a:solidFill>
                <a:latin typeface="Calibri"/>
              </a:defRPr>
            </a:pPr>
            <a:r>
              <a:t>MAPE 9.8%</a:t>
            </a:r>
            <a:br/>
            <a:r>
              <a:t>(cases)</a:t>
            </a:r>
          </a:p>
        </p:txBody>
      </p:sp>
      <p:sp>
        <p:nvSpPr>
          <p:cNvPr id="24" name="TextBox 23"/>
          <p:cNvSpPr txBox="1"/>
          <p:nvPr/>
        </p:nvSpPr>
        <p:spPr>
          <a:xfrm>
            <a:off x="3767328" y="3566160"/>
            <a:ext cx="1362456" cy="640080"/>
          </a:xfrm>
          <a:prstGeom prst="rect">
            <a:avLst/>
          </a:prstGeom>
          <a:noFill/>
        </p:spPr>
        <p:txBody>
          <a:bodyPr wrap="square"/>
          <a:lstStyle/>
          <a:p>
            <a:pPr algn="ctr">
              <a:defRPr sz="900" b="0">
                <a:solidFill>
                  <a:srgbClr val="6B728A"/>
                </a:solidFill>
                <a:latin typeface="Calibri"/>
              </a:defRPr>
            </a:pPr>
            <a:r>
              <a:t>Case &amp; death</a:t>
            </a:r>
            <a:br/>
            <a:r>
              <a:t>forecasting</a:t>
            </a:r>
          </a:p>
        </p:txBody>
      </p:sp>
      <p:sp>
        <p:nvSpPr>
          <p:cNvPr id="25" name="Rectangle 24"/>
          <p:cNvSpPr/>
          <p:nvPr/>
        </p:nvSpPr>
        <p:spPr>
          <a:xfrm>
            <a:off x="5312664" y="1554480"/>
            <a:ext cx="1508760" cy="292608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85816" y="1645920"/>
            <a:ext cx="1362456" cy="457200"/>
          </a:xfrm>
          <a:prstGeom prst="rect">
            <a:avLst/>
          </a:prstGeom>
          <a:noFill/>
        </p:spPr>
        <p:txBody>
          <a:bodyPr wrap="square"/>
          <a:lstStyle/>
          <a:p>
            <a:pPr algn="ctr">
              <a:defRPr sz="1100" b="1">
                <a:solidFill>
                  <a:srgbClr val="1E2761"/>
                </a:solidFill>
                <a:latin typeface="Calibri"/>
              </a:defRPr>
            </a:pPr>
            <a:r>
              <a:t>Scenario</a:t>
            </a:r>
            <a:br/>
            <a:r>
              <a:t>Predictor</a:t>
            </a:r>
          </a:p>
        </p:txBody>
      </p:sp>
      <p:sp>
        <p:nvSpPr>
          <p:cNvPr id="27" name="Rectangle 26"/>
          <p:cNvSpPr/>
          <p:nvPr/>
        </p:nvSpPr>
        <p:spPr>
          <a:xfrm>
            <a:off x="5586984" y="2103120"/>
            <a:ext cx="960120" cy="2743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85816" y="2194560"/>
            <a:ext cx="1362456" cy="548640"/>
          </a:xfrm>
          <a:prstGeom prst="rect">
            <a:avLst/>
          </a:prstGeom>
          <a:noFill/>
        </p:spPr>
        <p:txBody>
          <a:bodyPr wrap="square"/>
          <a:lstStyle/>
          <a:p>
            <a:pPr algn="ctr">
              <a:defRPr sz="900" b="0">
                <a:solidFill>
                  <a:srgbClr val="33384D"/>
                </a:solidFill>
                <a:latin typeface="Calibri"/>
              </a:defRPr>
            </a:pPr>
            <a:r>
              <a:t>XGBoost</a:t>
            </a:r>
            <a:br/>
            <a:r>
              <a:t>(upgraded)</a:t>
            </a:r>
          </a:p>
        </p:txBody>
      </p:sp>
      <p:sp>
        <p:nvSpPr>
          <p:cNvPr id="29" name="Rectangle 28"/>
          <p:cNvSpPr/>
          <p:nvPr/>
        </p:nvSpPr>
        <p:spPr>
          <a:xfrm>
            <a:off x="5404104" y="2926080"/>
            <a:ext cx="132588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04104" y="2926080"/>
            <a:ext cx="1325880" cy="411480"/>
          </a:xfrm>
          <a:prstGeom prst="rect">
            <a:avLst/>
          </a:prstGeom>
          <a:noFill/>
        </p:spPr>
        <p:txBody>
          <a:bodyPr wrap="square"/>
          <a:lstStyle/>
          <a:p>
            <a:pPr algn="ctr">
              <a:defRPr sz="1000" b="1">
                <a:solidFill>
                  <a:srgbClr val="00F0FF"/>
                </a:solidFill>
                <a:latin typeface="Calibri"/>
              </a:defRPr>
            </a:pPr>
            <a:r>
              <a:t>MAPE 5.7%</a:t>
            </a:r>
            <a:br/>
            <a:r>
              <a:t>(train)</a:t>
            </a:r>
          </a:p>
        </p:txBody>
      </p:sp>
      <p:sp>
        <p:nvSpPr>
          <p:cNvPr id="31" name="TextBox 30"/>
          <p:cNvSpPr txBox="1"/>
          <p:nvPr/>
        </p:nvSpPr>
        <p:spPr>
          <a:xfrm>
            <a:off x="5385816" y="3566160"/>
            <a:ext cx="1362456" cy="640080"/>
          </a:xfrm>
          <a:prstGeom prst="rect">
            <a:avLst/>
          </a:prstGeom>
          <a:noFill/>
        </p:spPr>
        <p:txBody>
          <a:bodyPr wrap="square"/>
          <a:lstStyle/>
          <a:p>
            <a:pPr algn="ctr">
              <a:defRPr sz="900" b="0">
                <a:solidFill>
                  <a:srgbClr val="6B728A"/>
                </a:solidFill>
                <a:latin typeface="Calibri"/>
              </a:defRPr>
            </a:pPr>
            <a:r>
              <a:t>Pandemic what-if</a:t>
            </a:r>
            <a:br/>
            <a:r>
              <a:t>simulation</a:t>
            </a:r>
          </a:p>
        </p:txBody>
      </p:sp>
      <p:sp>
        <p:nvSpPr>
          <p:cNvPr id="32" name="Rectangle 31"/>
          <p:cNvSpPr/>
          <p:nvPr/>
        </p:nvSpPr>
        <p:spPr>
          <a:xfrm>
            <a:off x="6931152" y="1554480"/>
            <a:ext cx="1508760" cy="292608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04304" y="1645920"/>
            <a:ext cx="1362456" cy="457200"/>
          </a:xfrm>
          <a:prstGeom prst="rect">
            <a:avLst/>
          </a:prstGeom>
          <a:noFill/>
        </p:spPr>
        <p:txBody>
          <a:bodyPr wrap="square"/>
          <a:lstStyle/>
          <a:p>
            <a:pPr algn="ctr">
              <a:defRPr sz="1100" b="1">
                <a:solidFill>
                  <a:srgbClr val="1E2761"/>
                </a:solidFill>
                <a:latin typeface="Calibri"/>
              </a:defRPr>
            </a:pPr>
            <a:r>
              <a:t>PatientRisk</a:t>
            </a:r>
            <a:br/>
            <a:r>
              <a:t>Predictor</a:t>
            </a:r>
          </a:p>
        </p:txBody>
      </p:sp>
      <p:sp>
        <p:nvSpPr>
          <p:cNvPr id="34" name="Rectangle 33"/>
          <p:cNvSpPr/>
          <p:nvPr/>
        </p:nvSpPr>
        <p:spPr>
          <a:xfrm>
            <a:off x="7205472" y="2103120"/>
            <a:ext cx="960120" cy="2743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04304" y="2194560"/>
            <a:ext cx="1362456" cy="548640"/>
          </a:xfrm>
          <a:prstGeom prst="rect">
            <a:avLst/>
          </a:prstGeom>
          <a:noFill/>
        </p:spPr>
        <p:txBody>
          <a:bodyPr wrap="square"/>
          <a:lstStyle/>
          <a:p>
            <a:pPr algn="ctr">
              <a:defRPr sz="900" b="0">
                <a:solidFill>
                  <a:srgbClr val="33384D"/>
                </a:solidFill>
                <a:latin typeface="Calibri"/>
              </a:defRPr>
            </a:pPr>
            <a:r>
              <a:t>RF + GB + XGB</a:t>
            </a:r>
            <a:br/>
            <a:r>
              <a:t>(ensemble)</a:t>
            </a:r>
          </a:p>
        </p:txBody>
      </p:sp>
      <p:sp>
        <p:nvSpPr>
          <p:cNvPr id="36" name="Rectangle 35"/>
          <p:cNvSpPr/>
          <p:nvPr/>
        </p:nvSpPr>
        <p:spPr>
          <a:xfrm>
            <a:off x="7022592" y="2926080"/>
            <a:ext cx="132588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22592" y="2926080"/>
            <a:ext cx="1325880" cy="411480"/>
          </a:xfrm>
          <a:prstGeom prst="rect">
            <a:avLst/>
          </a:prstGeom>
          <a:noFill/>
        </p:spPr>
        <p:txBody>
          <a:bodyPr wrap="square"/>
          <a:lstStyle/>
          <a:p>
            <a:pPr algn="ctr">
              <a:defRPr sz="1000" b="1">
                <a:solidFill>
                  <a:srgbClr val="00F0FF"/>
                </a:solidFill>
                <a:latin typeface="Calibri"/>
              </a:defRPr>
            </a:pPr>
            <a:r>
              <a:t>Score spread</a:t>
            </a:r>
            <a:br/>
            <a:r>
              <a:t>18–88%</a:t>
            </a:r>
          </a:p>
        </p:txBody>
      </p:sp>
      <p:sp>
        <p:nvSpPr>
          <p:cNvPr id="38" name="TextBox 37"/>
          <p:cNvSpPr txBox="1"/>
          <p:nvPr/>
        </p:nvSpPr>
        <p:spPr>
          <a:xfrm>
            <a:off x="7004304" y="3566160"/>
            <a:ext cx="1362456" cy="640080"/>
          </a:xfrm>
          <a:prstGeom prst="rect">
            <a:avLst/>
          </a:prstGeom>
          <a:noFill/>
        </p:spPr>
        <p:txBody>
          <a:bodyPr wrap="square"/>
          <a:lstStyle/>
          <a:p>
            <a:pPr algn="ctr">
              <a:defRPr sz="900" b="0">
                <a:solidFill>
                  <a:srgbClr val="6B728A"/>
                </a:solidFill>
                <a:latin typeface="Calibri"/>
              </a:defRPr>
            </a:pPr>
            <a:r>
              <a:t>Per-patient</a:t>
            </a:r>
            <a:br/>
            <a:r>
              <a:t>risk scoring</a:t>
            </a:r>
          </a:p>
        </p:txBody>
      </p:sp>
      <p:sp>
        <p:nvSpPr>
          <p:cNvPr id="39" name="Rectangle 38"/>
          <p:cNvSpPr/>
          <p:nvPr/>
        </p:nvSpPr>
        <p:spPr>
          <a:xfrm>
            <a:off x="8549640" y="1554480"/>
            <a:ext cx="1508760" cy="292608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22792" y="1645920"/>
            <a:ext cx="1362456" cy="457200"/>
          </a:xfrm>
          <a:prstGeom prst="rect">
            <a:avLst/>
          </a:prstGeom>
          <a:noFill/>
        </p:spPr>
        <p:txBody>
          <a:bodyPr wrap="square"/>
          <a:lstStyle/>
          <a:p>
            <a:pPr algn="ctr">
              <a:defRPr sz="1100" b="1">
                <a:solidFill>
                  <a:srgbClr val="1E2761"/>
                </a:solidFill>
                <a:latin typeface="Calibri"/>
              </a:defRPr>
            </a:pPr>
            <a:r>
              <a:t>Hospital</a:t>
            </a:r>
            <a:br/>
            <a:r>
              <a:t>Predictor</a:t>
            </a:r>
          </a:p>
        </p:txBody>
      </p:sp>
      <p:sp>
        <p:nvSpPr>
          <p:cNvPr id="41" name="Rectangle 40"/>
          <p:cNvSpPr/>
          <p:nvPr/>
        </p:nvSpPr>
        <p:spPr>
          <a:xfrm>
            <a:off x="8823960" y="2103120"/>
            <a:ext cx="960120" cy="2743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22792" y="2194560"/>
            <a:ext cx="1362456" cy="548640"/>
          </a:xfrm>
          <a:prstGeom prst="rect">
            <a:avLst/>
          </a:prstGeom>
          <a:noFill/>
        </p:spPr>
        <p:txBody>
          <a:bodyPr wrap="square"/>
          <a:lstStyle/>
          <a:p>
            <a:pPr algn="ctr">
              <a:defRPr sz="900" b="0">
                <a:solidFill>
                  <a:srgbClr val="33384D"/>
                </a:solidFill>
                <a:latin typeface="Calibri"/>
              </a:defRPr>
            </a:pPr>
            <a:r>
              <a:t>RandomForest</a:t>
            </a:r>
          </a:p>
        </p:txBody>
      </p:sp>
      <p:sp>
        <p:nvSpPr>
          <p:cNvPr id="43" name="Rectangle 42"/>
          <p:cNvSpPr/>
          <p:nvPr/>
        </p:nvSpPr>
        <p:spPr>
          <a:xfrm>
            <a:off x="8641080" y="2926080"/>
            <a:ext cx="132588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41080" y="2926080"/>
            <a:ext cx="1325880" cy="411480"/>
          </a:xfrm>
          <a:prstGeom prst="rect">
            <a:avLst/>
          </a:prstGeom>
          <a:noFill/>
        </p:spPr>
        <p:txBody>
          <a:bodyPr wrap="square"/>
          <a:lstStyle/>
          <a:p>
            <a:pPr algn="ctr">
              <a:defRPr sz="1000" b="1">
                <a:solidFill>
                  <a:srgbClr val="00F0FF"/>
                </a:solidFill>
                <a:latin typeface="Calibri"/>
              </a:defRPr>
            </a:pPr>
            <a:r>
              <a:t>Ranking</a:t>
            </a:r>
            <a:br/>
            <a:r>
              <a:t>model</a:t>
            </a:r>
          </a:p>
        </p:txBody>
      </p:sp>
      <p:sp>
        <p:nvSpPr>
          <p:cNvPr id="45" name="TextBox 44"/>
          <p:cNvSpPr txBox="1"/>
          <p:nvPr/>
        </p:nvSpPr>
        <p:spPr>
          <a:xfrm>
            <a:off x="8622792" y="3566160"/>
            <a:ext cx="1362456" cy="640080"/>
          </a:xfrm>
          <a:prstGeom prst="rect">
            <a:avLst/>
          </a:prstGeom>
          <a:noFill/>
        </p:spPr>
        <p:txBody>
          <a:bodyPr wrap="square"/>
          <a:lstStyle/>
          <a:p>
            <a:pPr algn="ctr">
              <a:defRPr sz="900" b="0">
                <a:solidFill>
                  <a:srgbClr val="6B728A"/>
                </a:solidFill>
                <a:latin typeface="Calibri"/>
              </a:defRPr>
            </a:pPr>
            <a:r>
              <a:t>Capacity &amp;</a:t>
            </a:r>
            <a:br/>
            <a:r>
              <a:t>resource ranking</a:t>
            </a:r>
          </a:p>
        </p:txBody>
      </p:sp>
      <p:sp>
        <p:nvSpPr>
          <p:cNvPr id="46" name="Rectangle 45"/>
          <p:cNvSpPr/>
          <p:nvPr/>
        </p:nvSpPr>
        <p:spPr>
          <a:xfrm>
            <a:off x="10168128" y="1554480"/>
            <a:ext cx="1508760" cy="292608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241280" y="1645920"/>
            <a:ext cx="1362456" cy="457200"/>
          </a:xfrm>
          <a:prstGeom prst="rect">
            <a:avLst/>
          </a:prstGeom>
          <a:noFill/>
        </p:spPr>
        <p:txBody>
          <a:bodyPr wrap="square"/>
          <a:lstStyle/>
          <a:p>
            <a:pPr algn="ctr">
              <a:defRPr sz="1100" b="1">
                <a:solidFill>
                  <a:srgbClr val="1E2761"/>
                </a:solidFill>
                <a:latin typeface="Calibri"/>
              </a:defRPr>
            </a:pPr>
            <a:r>
              <a:t>RiskPredictor</a:t>
            </a:r>
          </a:p>
        </p:txBody>
      </p:sp>
      <p:sp>
        <p:nvSpPr>
          <p:cNvPr id="48" name="Rectangle 47"/>
          <p:cNvSpPr/>
          <p:nvPr/>
        </p:nvSpPr>
        <p:spPr>
          <a:xfrm>
            <a:off x="10442448" y="2103120"/>
            <a:ext cx="960120" cy="2743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41280" y="2194560"/>
            <a:ext cx="1362456" cy="548640"/>
          </a:xfrm>
          <a:prstGeom prst="rect">
            <a:avLst/>
          </a:prstGeom>
          <a:noFill/>
        </p:spPr>
        <p:txBody>
          <a:bodyPr wrap="square"/>
          <a:lstStyle/>
          <a:p>
            <a:pPr algn="ctr">
              <a:defRPr sz="900" b="0">
                <a:solidFill>
                  <a:srgbClr val="33384D"/>
                </a:solidFill>
                <a:latin typeface="Calibri"/>
              </a:defRPr>
            </a:pPr>
            <a:r>
              <a:t>Deterministic</a:t>
            </a:r>
            <a:br/>
            <a:r>
              <a:t>formula</a:t>
            </a:r>
          </a:p>
        </p:txBody>
      </p:sp>
      <p:sp>
        <p:nvSpPr>
          <p:cNvPr id="50" name="Rectangle 49"/>
          <p:cNvSpPr/>
          <p:nvPr/>
        </p:nvSpPr>
        <p:spPr>
          <a:xfrm>
            <a:off x="10259568" y="2926080"/>
            <a:ext cx="1325880" cy="4114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59568" y="2926080"/>
            <a:ext cx="1325880" cy="411480"/>
          </a:xfrm>
          <a:prstGeom prst="rect">
            <a:avLst/>
          </a:prstGeom>
          <a:noFill/>
        </p:spPr>
        <p:txBody>
          <a:bodyPr wrap="square"/>
          <a:lstStyle/>
          <a:p>
            <a:pPr algn="ctr">
              <a:defRPr sz="1000" b="1">
                <a:solidFill>
                  <a:srgbClr val="00F0FF"/>
                </a:solidFill>
                <a:latin typeface="Calibri"/>
              </a:defRPr>
            </a:pPr>
            <a:r>
              <a:t>Zero data</a:t>
            </a:r>
            <a:br/>
            <a:r>
              <a:t>leakage</a:t>
            </a:r>
          </a:p>
        </p:txBody>
      </p:sp>
      <p:sp>
        <p:nvSpPr>
          <p:cNvPr id="52" name="TextBox 51"/>
          <p:cNvSpPr txBox="1"/>
          <p:nvPr/>
        </p:nvSpPr>
        <p:spPr>
          <a:xfrm>
            <a:off x="10241280" y="3566160"/>
            <a:ext cx="1362456" cy="640080"/>
          </a:xfrm>
          <a:prstGeom prst="rect">
            <a:avLst/>
          </a:prstGeom>
          <a:noFill/>
        </p:spPr>
        <p:txBody>
          <a:bodyPr wrap="square"/>
          <a:lstStyle/>
          <a:p>
            <a:pPr algn="ctr">
              <a:defRPr sz="900" b="0">
                <a:solidFill>
                  <a:srgbClr val="6B728A"/>
                </a:solidFill>
                <a:latin typeface="Calibri"/>
              </a:defRPr>
            </a:pPr>
            <a:r>
              <a:t>Pandemic-level</a:t>
            </a:r>
            <a:br/>
            <a:r>
              <a:t>risk assessment</a:t>
            </a:r>
          </a:p>
        </p:txBody>
      </p:sp>
      <p:sp>
        <p:nvSpPr>
          <p:cNvPr id="53" name="Rectangle 52"/>
          <p:cNvSpPr/>
          <p:nvPr/>
        </p:nvSpPr>
        <p:spPr>
          <a:xfrm>
            <a:off x="457200" y="4846320"/>
            <a:ext cx="11247120" cy="137160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5029200"/>
            <a:ext cx="10789920" cy="274320"/>
          </a:xfrm>
          <a:prstGeom prst="rect">
            <a:avLst/>
          </a:prstGeom>
          <a:noFill/>
        </p:spPr>
        <p:txBody>
          <a:bodyPr wrap="square"/>
          <a:lstStyle/>
          <a:p>
            <a:pPr algn="l">
              <a:defRPr sz="1400" b="1">
                <a:solidFill>
                  <a:srgbClr val="00F0FF"/>
                </a:solidFill>
                <a:latin typeface="Calibri"/>
              </a:defRPr>
            </a:pPr>
            <a:r>
              <a:t>Model Evolution (June 2026): Three models replaced older approaches with measurable gains</a:t>
            </a:r>
          </a:p>
        </p:txBody>
      </p:sp>
      <p:sp>
        <p:nvSpPr>
          <p:cNvPr id="55" name="TextBox 54"/>
          <p:cNvSpPr txBox="1"/>
          <p:nvPr/>
        </p:nvSpPr>
        <p:spPr>
          <a:xfrm>
            <a:off x="731520" y="5394960"/>
            <a:ext cx="10515600" cy="731520"/>
          </a:xfrm>
          <a:prstGeom prst="rect">
            <a:avLst/>
          </a:prstGeom>
          <a:noFill/>
        </p:spPr>
        <p:txBody>
          <a:bodyPr wrap="square">
            <a:spAutoFit/>
          </a:bodyPr>
          <a:lstStyle/>
          <a:p>
            <a:pPr>
              <a:spcAft>
                <a:spcPts val="400"/>
              </a:spcAft>
              <a:defRPr sz="1100">
                <a:solidFill>
                  <a:srgbClr val="CADCFC"/>
                </a:solidFill>
                <a:latin typeface="Calibri"/>
              </a:defRPr>
            </a:pPr>
            <a:r>
              <a:t>•  Forecast: Ridge (MAPE 414%) → XGBoost (MAPE 9.8%)</a:t>
            </a:r>
          </a:p>
          <a:p>
            <a:pPr>
              <a:spcAft>
                <a:spcPts val="400"/>
              </a:spcAft>
              <a:defRPr sz="1100">
                <a:solidFill>
                  <a:srgbClr val="CADCFC"/>
                </a:solidFill>
                <a:latin typeface="Calibri"/>
              </a:defRPr>
            </a:pPr>
            <a:r>
              <a:t>•  Scenario: Ridge (MAPE 414%/615%) → XGBoost (5.7%/28.7%)</a:t>
            </a:r>
          </a:p>
          <a:p>
            <a:pPr>
              <a:spcAft>
                <a:spcPts val="400"/>
              </a:spcAft>
              <a:defRPr sz="1100">
                <a:solidFill>
                  <a:srgbClr val="CADCFC"/>
                </a:solidFill>
                <a:latin typeface="Calibri"/>
              </a:defRPr>
            </a:pPr>
            <a:r>
              <a:t>•  Risk: RandomForest (R² 0.99 — data leakage artifact) → Deterministic formula</a:t>
            </a:r>
          </a:p>
          <a:p>
            <a:pPr>
              <a:spcAft>
                <a:spcPts val="400"/>
              </a:spcAft>
              <a:defRPr sz="1100">
                <a:solidFill>
                  <a:srgbClr val="CADCFC"/>
                </a:solidFill>
                <a:latin typeface="Calibri"/>
              </a:defRPr>
            </a:pPr>
            <a:r>
              <a:t>•  Patient Risk: Retrained with adjusted formula weights for realistic score spread (18–88%)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Why Tamil Nadu</a:t>
            </a:r>
          </a:p>
        </p:txBody>
      </p:sp>
      <p:sp>
        <p:nvSpPr>
          <p:cNvPr id="3" name="TextBox 2"/>
          <p:cNvSpPr txBox="1"/>
          <p:nvPr/>
        </p:nvSpPr>
        <p:spPr>
          <a:xfrm>
            <a:off x="731520" y="960120"/>
            <a:ext cx="10515600" cy="365760"/>
          </a:xfrm>
          <a:prstGeom prst="rect">
            <a:avLst/>
          </a:prstGeom>
          <a:noFill/>
        </p:spPr>
        <p:txBody>
          <a:bodyPr wrap="square"/>
          <a:lstStyle/>
          <a:p>
            <a:pPr algn="l">
              <a:defRPr sz="1600" b="0">
                <a:solidFill>
                  <a:srgbClr val="33384D"/>
                </a:solidFill>
                <a:latin typeface="Calibri"/>
              </a:defRPr>
            </a:pPr>
            <a:r>
              <a:t>HOSPi was built with Tamil Nadu as its primary design target. Every feature maps to TN’s healthcare reality.</a:t>
            </a:r>
          </a:p>
        </p:txBody>
      </p:sp>
      <p:sp>
        <p:nvSpPr>
          <p:cNvPr id="4" name="Rectangle 3"/>
          <p:cNvSpPr/>
          <p:nvPr/>
        </p:nvSpPr>
        <p:spPr>
          <a:xfrm>
            <a:off x="731520" y="1554480"/>
            <a:ext cx="5303520" cy="118872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937760" cy="320040"/>
          </a:xfrm>
          <a:prstGeom prst="rect">
            <a:avLst/>
          </a:prstGeom>
          <a:noFill/>
        </p:spPr>
        <p:txBody>
          <a:bodyPr wrap="square"/>
          <a:lstStyle/>
          <a:p>
            <a:pPr algn="l">
              <a:defRPr sz="1500" b="1">
                <a:solidFill>
                  <a:srgbClr val="1E2761"/>
                </a:solidFill>
                <a:latin typeface="Calibri"/>
              </a:defRPr>
            </a:pPr>
            <a:r>
              <a:t>District-Level Mortality</a:t>
            </a:r>
          </a:p>
        </p:txBody>
      </p:sp>
      <p:sp>
        <p:nvSpPr>
          <p:cNvPr id="6" name="TextBox 5"/>
          <p:cNvSpPr txBox="1"/>
          <p:nvPr/>
        </p:nvSpPr>
        <p:spPr>
          <a:xfrm>
            <a:off x="914400" y="2194560"/>
            <a:ext cx="4937760" cy="457200"/>
          </a:xfrm>
          <a:prstGeom prst="rect">
            <a:avLst/>
          </a:prstGeom>
          <a:noFill/>
        </p:spPr>
        <p:txBody>
          <a:bodyPr wrap="square"/>
          <a:lstStyle/>
          <a:p>
            <a:pPr algn="l">
              <a:defRPr sz="1200" b="0">
                <a:solidFill>
                  <a:srgbClr val="33384D"/>
                </a:solidFill>
                <a:latin typeface="Calibri"/>
              </a:defRPr>
            </a:pPr>
            <a:r>
              <a:t>TN has 38 districts. Our mortality predictor scores death rates at district granularity by age group and cause of death.</a:t>
            </a:r>
          </a:p>
        </p:txBody>
      </p:sp>
      <p:sp>
        <p:nvSpPr>
          <p:cNvPr id="7" name="Rectangle 6"/>
          <p:cNvSpPr/>
          <p:nvPr/>
        </p:nvSpPr>
        <p:spPr>
          <a:xfrm>
            <a:off x="6309359" y="1554480"/>
            <a:ext cx="5303520" cy="118872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39" y="1691640"/>
            <a:ext cx="4937760" cy="320040"/>
          </a:xfrm>
          <a:prstGeom prst="rect">
            <a:avLst/>
          </a:prstGeom>
          <a:noFill/>
        </p:spPr>
        <p:txBody>
          <a:bodyPr wrap="square"/>
          <a:lstStyle/>
          <a:p>
            <a:pPr algn="l">
              <a:defRPr sz="1500" b="1">
                <a:solidFill>
                  <a:srgbClr val="1E2761"/>
                </a:solidFill>
                <a:latin typeface="Calibri"/>
              </a:defRPr>
            </a:pPr>
            <a:r>
              <a:t>Ward-Type Bed Forecasting</a:t>
            </a:r>
          </a:p>
        </p:txBody>
      </p:sp>
      <p:sp>
        <p:nvSpPr>
          <p:cNvPr id="9" name="TextBox 8"/>
          <p:cNvSpPr txBox="1"/>
          <p:nvPr/>
        </p:nvSpPr>
        <p:spPr>
          <a:xfrm>
            <a:off x="6492239" y="2194560"/>
            <a:ext cx="4937760" cy="457200"/>
          </a:xfrm>
          <a:prstGeom prst="rect">
            <a:avLst/>
          </a:prstGeom>
          <a:noFill/>
        </p:spPr>
        <p:txBody>
          <a:bodyPr wrap="square"/>
          <a:lstStyle/>
          <a:p>
            <a:pPr algn="l">
              <a:defRPr sz="1200" b="0">
                <a:solidFill>
                  <a:srgbClr val="33384D"/>
                </a:solidFill>
                <a:latin typeface="Calibri"/>
              </a:defRPr>
            </a:pPr>
            <a:r>
              <a:t>TN hospitals have Gen, ICU, Maternity, Emergency wards. Our GBR model forecasts each separately 3–24 months ahead.</a:t>
            </a:r>
          </a:p>
        </p:txBody>
      </p:sp>
      <p:sp>
        <p:nvSpPr>
          <p:cNvPr id="10" name="Rectangle 9"/>
          <p:cNvSpPr/>
          <p:nvPr/>
        </p:nvSpPr>
        <p:spPr>
          <a:xfrm>
            <a:off x="731520" y="3017520"/>
            <a:ext cx="5303520" cy="118872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54680"/>
            <a:ext cx="4937760" cy="320040"/>
          </a:xfrm>
          <a:prstGeom prst="rect">
            <a:avLst/>
          </a:prstGeom>
          <a:noFill/>
        </p:spPr>
        <p:txBody>
          <a:bodyPr wrap="square"/>
          <a:lstStyle/>
          <a:p>
            <a:pPr algn="l">
              <a:defRPr sz="1500" b="1">
                <a:solidFill>
                  <a:srgbClr val="1E2761"/>
                </a:solidFill>
                <a:latin typeface="Calibri"/>
              </a:defRPr>
            </a:pPr>
            <a:r>
              <a:t>30-State Pandemic Simulation</a:t>
            </a:r>
          </a:p>
        </p:txBody>
      </p:sp>
      <p:sp>
        <p:nvSpPr>
          <p:cNvPr id="12" name="TextBox 11"/>
          <p:cNvSpPr txBox="1"/>
          <p:nvPr/>
        </p:nvSpPr>
        <p:spPr>
          <a:xfrm>
            <a:off x="914400" y="3657600"/>
            <a:ext cx="4937760" cy="457200"/>
          </a:xfrm>
          <a:prstGeom prst="rect">
            <a:avLst/>
          </a:prstGeom>
          <a:noFill/>
        </p:spPr>
        <p:txBody>
          <a:bodyPr wrap="square"/>
          <a:lstStyle/>
          <a:p>
            <a:pPr algn="l">
              <a:defRPr sz="1200" b="0">
                <a:solidFill>
                  <a:srgbClr val="33384D"/>
                </a:solidFill>
                <a:latin typeface="Calibri"/>
              </a:defRPr>
            </a:pPr>
            <a:r>
              <a:t>Scenario predictor simulates outbreaks across 30+ Indian states. TN can model what-if scenarios in its own context.</a:t>
            </a:r>
          </a:p>
        </p:txBody>
      </p:sp>
      <p:sp>
        <p:nvSpPr>
          <p:cNvPr id="13" name="Rectangle 12"/>
          <p:cNvSpPr/>
          <p:nvPr/>
        </p:nvSpPr>
        <p:spPr>
          <a:xfrm>
            <a:off x="6309359" y="3017520"/>
            <a:ext cx="5303520" cy="118872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39" y="3154680"/>
            <a:ext cx="4937760" cy="320040"/>
          </a:xfrm>
          <a:prstGeom prst="rect">
            <a:avLst/>
          </a:prstGeom>
          <a:noFill/>
        </p:spPr>
        <p:txBody>
          <a:bodyPr wrap="square"/>
          <a:lstStyle/>
          <a:p>
            <a:pPr algn="l">
              <a:defRPr sz="1500" b="1">
                <a:solidFill>
                  <a:srgbClr val="1E2761"/>
                </a:solidFill>
                <a:latin typeface="Calibri"/>
              </a:defRPr>
            </a:pPr>
            <a:r>
              <a:t>Real Indian Demographics</a:t>
            </a:r>
          </a:p>
        </p:txBody>
      </p:sp>
      <p:sp>
        <p:nvSpPr>
          <p:cNvPr id="15" name="TextBox 14"/>
          <p:cNvSpPr txBox="1"/>
          <p:nvPr/>
        </p:nvSpPr>
        <p:spPr>
          <a:xfrm>
            <a:off x="6492239" y="3657600"/>
            <a:ext cx="4937760" cy="457200"/>
          </a:xfrm>
          <a:prstGeom prst="rect">
            <a:avLst/>
          </a:prstGeom>
          <a:noFill/>
        </p:spPr>
        <p:txBody>
          <a:bodyPr wrap="square"/>
          <a:lstStyle/>
          <a:p>
            <a:pPr algn="l">
              <a:defRPr sz="1200" b="0">
                <a:solidFill>
                  <a:srgbClr val="33384D"/>
                </a:solidFill>
                <a:latin typeface="Calibri"/>
              </a:defRPr>
            </a:pPr>
            <a:r>
              <a:t>Synthetic patients modeled on Indian census data. Age distributions, condition prevalence, and travel patterns reflect TN’s population.</a:t>
            </a:r>
          </a:p>
        </p:txBody>
      </p:sp>
      <p:sp>
        <p:nvSpPr>
          <p:cNvPr id="16" name="Rectangle 15"/>
          <p:cNvSpPr/>
          <p:nvPr/>
        </p:nvSpPr>
        <p:spPr>
          <a:xfrm>
            <a:off x="731520" y="4754880"/>
            <a:ext cx="2606040" cy="146304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46320"/>
            <a:ext cx="2331720" cy="457200"/>
          </a:xfrm>
          <a:prstGeom prst="rect">
            <a:avLst/>
          </a:prstGeom>
          <a:noFill/>
        </p:spPr>
        <p:txBody>
          <a:bodyPr wrap="square"/>
          <a:lstStyle/>
          <a:p>
            <a:pPr algn="l">
              <a:defRPr sz="2200" b="1">
                <a:solidFill>
                  <a:srgbClr val="00F0FF"/>
                </a:solidFill>
                <a:latin typeface="Calibri"/>
              </a:defRPr>
            </a:pPr>
            <a:r>
              <a:t>Primary Demo State</a:t>
            </a:r>
          </a:p>
        </p:txBody>
      </p:sp>
      <p:sp>
        <p:nvSpPr>
          <p:cNvPr id="18" name="TextBox 17"/>
          <p:cNvSpPr txBox="1"/>
          <p:nvPr/>
        </p:nvSpPr>
        <p:spPr>
          <a:xfrm>
            <a:off x="868680" y="5303520"/>
            <a:ext cx="2331720" cy="731520"/>
          </a:xfrm>
          <a:prstGeom prst="rect">
            <a:avLst/>
          </a:prstGeom>
          <a:noFill/>
        </p:spPr>
        <p:txBody>
          <a:bodyPr wrap="square"/>
          <a:lstStyle/>
          <a:p>
            <a:pPr algn="l">
              <a:defRPr sz="1100" b="0">
                <a:solidFill>
                  <a:srgbClr val="CADCFC"/>
                </a:solidFill>
                <a:latin typeface="Calibri"/>
              </a:defRPr>
            </a:pPr>
            <a:r>
              <a:t>All dashboards default</a:t>
            </a:r>
            <a:br/>
            <a:r>
              <a:t>to TN data</a:t>
            </a:r>
          </a:p>
        </p:txBody>
      </p:sp>
      <p:sp>
        <p:nvSpPr>
          <p:cNvPr id="19" name="Rectangle 18"/>
          <p:cNvSpPr/>
          <p:nvPr/>
        </p:nvSpPr>
        <p:spPr>
          <a:xfrm>
            <a:off x="3611880" y="4754880"/>
            <a:ext cx="2606040" cy="146304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40" y="4846320"/>
            <a:ext cx="2331720" cy="457200"/>
          </a:xfrm>
          <a:prstGeom prst="rect">
            <a:avLst/>
          </a:prstGeom>
          <a:noFill/>
        </p:spPr>
        <p:txBody>
          <a:bodyPr wrap="square"/>
          <a:lstStyle/>
          <a:p>
            <a:pPr algn="l">
              <a:defRPr sz="2200" b="1">
                <a:solidFill>
                  <a:srgbClr val="00F0FF"/>
                </a:solidFill>
                <a:latin typeface="Calibri"/>
              </a:defRPr>
            </a:pPr>
            <a:r>
              <a:t>38 Districts</a:t>
            </a:r>
          </a:p>
        </p:txBody>
      </p:sp>
      <p:sp>
        <p:nvSpPr>
          <p:cNvPr id="21" name="TextBox 20"/>
          <p:cNvSpPr txBox="1"/>
          <p:nvPr/>
        </p:nvSpPr>
        <p:spPr>
          <a:xfrm>
            <a:off x="3749040" y="5303520"/>
            <a:ext cx="2331720" cy="731520"/>
          </a:xfrm>
          <a:prstGeom prst="rect">
            <a:avLst/>
          </a:prstGeom>
          <a:noFill/>
        </p:spPr>
        <p:txBody>
          <a:bodyPr wrap="square"/>
          <a:lstStyle/>
          <a:p>
            <a:pPr algn="l">
              <a:defRPr sz="1100" b="0">
                <a:solidFill>
                  <a:srgbClr val="CADCFC"/>
                </a:solidFill>
                <a:latin typeface="Calibri"/>
              </a:defRPr>
            </a:pPr>
            <a:r>
              <a:t>Mortality predictions</a:t>
            </a:r>
            <a:br/>
            <a:r>
              <a:t>at district granularity</a:t>
            </a:r>
          </a:p>
        </p:txBody>
      </p:sp>
      <p:sp>
        <p:nvSpPr>
          <p:cNvPr id="22" name="Rectangle 21"/>
          <p:cNvSpPr/>
          <p:nvPr/>
        </p:nvSpPr>
        <p:spPr>
          <a:xfrm>
            <a:off x="6492240" y="4754880"/>
            <a:ext cx="2606040" cy="146304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4846320"/>
            <a:ext cx="2331720" cy="457200"/>
          </a:xfrm>
          <a:prstGeom prst="rect">
            <a:avLst/>
          </a:prstGeom>
          <a:noFill/>
        </p:spPr>
        <p:txBody>
          <a:bodyPr wrap="square"/>
          <a:lstStyle/>
          <a:p>
            <a:pPr algn="l">
              <a:defRPr sz="2200" b="1">
                <a:solidFill>
                  <a:srgbClr val="00F0FF"/>
                </a:solidFill>
                <a:latin typeface="Calibri"/>
              </a:defRPr>
            </a:pPr>
            <a:r>
              <a:t>4 Ward Types</a:t>
            </a:r>
          </a:p>
        </p:txBody>
      </p:sp>
      <p:sp>
        <p:nvSpPr>
          <p:cNvPr id="24" name="TextBox 23"/>
          <p:cNvSpPr txBox="1"/>
          <p:nvPr/>
        </p:nvSpPr>
        <p:spPr>
          <a:xfrm>
            <a:off x="6629400" y="5303520"/>
            <a:ext cx="2331720" cy="731520"/>
          </a:xfrm>
          <a:prstGeom prst="rect">
            <a:avLst/>
          </a:prstGeom>
          <a:noFill/>
        </p:spPr>
        <p:txBody>
          <a:bodyPr wrap="square"/>
          <a:lstStyle/>
          <a:p>
            <a:pPr algn="l">
              <a:defRPr sz="1100" b="0">
                <a:solidFill>
                  <a:srgbClr val="CADCFC"/>
                </a:solidFill>
                <a:latin typeface="Calibri"/>
              </a:defRPr>
            </a:pPr>
            <a:r>
              <a:t>Gen, ICU, Maternity,</a:t>
            </a:r>
            <a:br/>
            <a:r>
              <a:t>Emergency forecasts</a:t>
            </a:r>
          </a:p>
        </p:txBody>
      </p:sp>
      <p:sp>
        <p:nvSpPr>
          <p:cNvPr id="25" name="Rectangle 24"/>
          <p:cNvSpPr/>
          <p:nvPr/>
        </p:nvSpPr>
        <p:spPr>
          <a:xfrm>
            <a:off x="9372600" y="4754880"/>
            <a:ext cx="2606040" cy="146304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0" y="4846320"/>
            <a:ext cx="2331720" cy="457200"/>
          </a:xfrm>
          <a:prstGeom prst="rect">
            <a:avLst/>
          </a:prstGeom>
          <a:noFill/>
        </p:spPr>
        <p:txBody>
          <a:bodyPr wrap="square"/>
          <a:lstStyle/>
          <a:p>
            <a:pPr algn="l">
              <a:defRPr sz="2200" b="1">
                <a:solidFill>
                  <a:srgbClr val="00F0FF"/>
                </a:solidFill>
                <a:latin typeface="Calibri"/>
              </a:defRPr>
            </a:pPr>
            <a:r>
              <a:t>Gemini RAG</a:t>
            </a:r>
          </a:p>
        </p:txBody>
      </p:sp>
      <p:sp>
        <p:nvSpPr>
          <p:cNvPr id="27" name="TextBox 26"/>
          <p:cNvSpPr txBox="1"/>
          <p:nvPr/>
        </p:nvSpPr>
        <p:spPr>
          <a:xfrm>
            <a:off x="9509760" y="5303520"/>
            <a:ext cx="2331720" cy="731520"/>
          </a:xfrm>
          <a:prstGeom prst="rect">
            <a:avLst/>
          </a:prstGeom>
          <a:noFill/>
        </p:spPr>
        <p:txBody>
          <a:bodyPr wrap="square"/>
          <a:lstStyle/>
          <a:p>
            <a:pPr algn="l">
              <a:defRPr sz="1100" b="0">
                <a:solidFill>
                  <a:srgbClr val="CADCFC"/>
                </a:solidFill>
                <a:latin typeface="Calibri"/>
              </a:defRPr>
            </a:pPr>
            <a:r>
              <a:t>State + disease entity</a:t>
            </a:r>
            <a:br/>
            <a:r>
              <a:t>detection for TN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Competitive Edge</a:t>
            </a:r>
          </a:p>
        </p:txBody>
      </p:sp>
      <p:sp>
        <p:nvSpPr>
          <p:cNvPr id="3" name="TextBox 2"/>
          <p:cNvSpPr txBox="1"/>
          <p:nvPr/>
        </p:nvSpPr>
        <p:spPr>
          <a:xfrm>
            <a:off x="731520" y="960120"/>
            <a:ext cx="10515600" cy="365760"/>
          </a:xfrm>
          <a:prstGeom prst="rect">
            <a:avLst/>
          </a:prstGeom>
          <a:noFill/>
        </p:spPr>
        <p:txBody>
          <a:bodyPr wrap="square"/>
          <a:lstStyle/>
          <a:p>
            <a:pPr algn="l">
              <a:defRPr sz="1600" b="0">
                <a:solidFill>
                  <a:srgbClr val="33384D"/>
                </a:solidFill>
                <a:latin typeface="Calibri"/>
              </a:defRPr>
            </a:pPr>
            <a:r>
              <a:t>Why HOSPi wins where HMIS systems, ERP suites, and generic BI tools fall short.</a:t>
            </a:r>
          </a:p>
        </p:txBody>
      </p:sp>
      <p:sp>
        <p:nvSpPr>
          <p:cNvPr id="4" name="Rectangle 3"/>
          <p:cNvSpPr/>
          <p:nvPr/>
        </p:nvSpPr>
        <p:spPr>
          <a:xfrm>
            <a:off x="457200" y="1554480"/>
            <a:ext cx="2286000" cy="45720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72768"/>
            <a:ext cx="2286000" cy="411480"/>
          </a:xfrm>
          <a:prstGeom prst="rect">
            <a:avLst/>
          </a:prstGeom>
          <a:noFill/>
        </p:spPr>
        <p:txBody>
          <a:bodyPr wrap="square"/>
          <a:lstStyle/>
          <a:p>
            <a:pPr algn="ctr">
              <a:defRPr sz="1300" b="1">
                <a:solidFill>
                  <a:srgbClr val="FFFFFF"/>
                </a:solidFill>
                <a:latin typeface="Calibri"/>
              </a:defRPr>
            </a:pPr>
            <a:r>
              <a:t>Capability</a:t>
            </a:r>
          </a:p>
        </p:txBody>
      </p:sp>
      <p:sp>
        <p:nvSpPr>
          <p:cNvPr id="6" name="Rectangle 5"/>
          <p:cNvSpPr/>
          <p:nvPr/>
        </p:nvSpPr>
        <p:spPr>
          <a:xfrm>
            <a:off x="3291840" y="1554480"/>
            <a:ext cx="2834640" cy="457200"/>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1572768"/>
            <a:ext cx="2834640" cy="411480"/>
          </a:xfrm>
          <a:prstGeom prst="rect">
            <a:avLst/>
          </a:prstGeom>
          <a:noFill/>
        </p:spPr>
        <p:txBody>
          <a:bodyPr wrap="square"/>
          <a:lstStyle/>
          <a:p>
            <a:pPr algn="ctr">
              <a:defRPr sz="1300" b="1">
                <a:solidFill>
                  <a:srgbClr val="FFFFFF"/>
                </a:solidFill>
                <a:latin typeface="Calibri"/>
              </a:defRPr>
            </a:pPr>
            <a:r>
              <a:t>HOSPi</a:t>
            </a:r>
          </a:p>
        </p:txBody>
      </p:sp>
      <p:sp>
        <p:nvSpPr>
          <p:cNvPr id="8" name="Rectangle 7"/>
          <p:cNvSpPr/>
          <p:nvPr/>
        </p:nvSpPr>
        <p:spPr>
          <a:xfrm>
            <a:off x="6126480" y="1554480"/>
            <a:ext cx="2834640" cy="45720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572768"/>
            <a:ext cx="2834640" cy="411480"/>
          </a:xfrm>
          <a:prstGeom prst="rect">
            <a:avLst/>
          </a:prstGeom>
          <a:noFill/>
        </p:spPr>
        <p:txBody>
          <a:bodyPr wrap="square"/>
          <a:lstStyle/>
          <a:p>
            <a:pPr algn="ctr">
              <a:defRPr sz="1300" b="1">
                <a:solidFill>
                  <a:srgbClr val="FFFFFF"/>
                </a:solidFill>
                <a:latin typeface="Calibri"/>
              </a:defRPr>
            </a:pPr>
            <a:r>
              <a:t>Traditional HMIS</a:t>
            </a:r>
          </a:p>
        </p:txBody>
      </p:sp>
      <p:sp>
        <p:nvSpPr>
          <p:cNvPr id="10" name="Rectangle 9"/>
          <p:cNvSpPr/>
          <p:nvPr/>
        </p:nvSpPr>
        <p:spPr>
          <a:xfrm>
            <a:off x="8961120" y="1554480"/>
            <a:ext cx="2834640" cy="45720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572768"/>
            <a:ext cx="2834640" cy="411480"/>
          </a:xfrm>
          <a:prstGeom prst="rect">
            <a:avLst/>
          </a:prstGeom>
          <a:noFill/>
        </p:spPr>
        <p:txBody>
          <a:bodyPr wrap="square"/>
          <a:lstStyle/>
          <a:p>
            <a:pPr algn="ctr">
              <a:defRPr sz="1300" b="1">
                <a:solidFill>
                  <a:srgbClr val="FFFFFF"/>
                </a:solidFill>
                <a:latin typeface="Calibri"/>
              </a:defRPr>
            </a:pPr>
            <a:r>
              <a:t>Generic BI / ERP</a:t>
            </a:r>
          </a:p>
        </p:txBody>
      </p:sp>
      <p:sp>
        <p:nvSpPr>
          <p:cNvPr id="12" name="Rectangle 11"/>
          <p:cNvSpPr/>
          <p:nvPr/>
        </p:nvSpPr>
        <p:spPr>
          <a:xfrm>
            <a:off x="457200" y="2011680"/>
            <a:ext cx="228600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57400"/>
            <a:ext cx="2103120" cy="502920"/>
          </a:xfrm>
          <a:prstGeom prst="rect">
            <a:avLst/>
          </a:prstGeom>
          <a:noFill/>
        </p:spPr>
        <p:txBody>
          <a:bodyPr wrap="square"/>
          <a:lstStyle/>
          <a:p>
            <a:pPr algn="l">
              <a:defRPr sz="1000" b="0">
                <a:solidFill>
                  <a:srgbClr val="33384D"/>
                </a:solidFill>
                <a:latin typeface="Calibri"/>
              </a:defRPr>
            </a:pPr>
            <a:r>
              <a:t>Real-time ML inference</a:t>
            </a:r>
          </a:p>
        </p:txBody>
      </p:sp>
      <p:sp>
        <p:nvSpPr>
          <p:cNvPr id="14" name="Rectangle 13"/>
          <p:cNvSpPr/>
          <p:nvPr/>
        </p:nvSpPr>
        <p:spPr>
          <a:xfrm>
            <a:off x="2743200" y="201168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2057400"/>
            <a:ext cx="2651760" cy="502920"/>
          </a:xfrm>
          <a:prstGeom prst="rect">
            <a:avLst/>
          </a:prstGeom>
          <a:noFill/>
        </p:spPr>
        <p:txBody>
          <a:bodyPr wrap="square"/>
          <a:lstStyle/>
          <a:p>
            <a:pPr algn="l">
              <a:defRPr sz="1000" b="1">
                <a:solidFill>
                  <a:srgbClr val="00F0FF"/>
                </a:solidFill>
                <a:latin typeface="Calibri"/>
              </a:defRPr>
            </a:pPr>
            <a:r>
              <a:t>Yes — every API call</a:t>
            </a:r>
            <a:br/>
            <a:r>
              <a:t>runs a model</a:t>
            </a:r>
          </a:p>
        </p:txBody>
      </p:sp>
      <p:sp>
        <p:nvSpPr>
          <p:cNvPr id="16" name="Rectangle 15"/>
          <p:cNvSpPr/>
          <p:nvPr/>
        </p:nvSpPr>
        <p:spPr>
          <a:xfrm>
            <a:off x="5577840" y="201168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2057400"/>
            <a:ext cx="2651760" cy="502920"/>
          </a:xfrm>
          <a:prstGeom prst="rect">
            <a:avLst/>
          </a:prstGeom>
          <a:noFill/>
        </p:spPr>
        <p:txBody>
          <a:bodyPr wrap="square"/>
          <a:lstStyle/>
          <a:p>
            <a:pPr algn="l">
              <a:defRPr sz="1000" b="0">
                <a:solidFill>
                  <a:srgbClr val="33384D"/>
                </a:solidFill>
                <a:latin typeface="Calibri"/>
              </a:defRPr>
            </a:pPr>
            <a:r>
              <a:t>No ML</a:t>
            </a:r>
          </a:p>
        </p:txBody>
      </p:sp>
      <p:sp>
        <p:nvSpPr>
          <p:cNvPr id="18" name="Rectangle 17"/>
          <p:cNvSpPr/>
          <p:nvPr/>
        </p:nvSpPr>
        <p:spPr>
          <a:xfrm>
            <a:off x="8412480" y="201168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2057400"/>
            <a:ext cx="2651760" cy="502920"/>
          </a:xfrm>
          <a:prstGeom prst="rect">
            <a:avLst/>
          </a:prstGeom>
          <a:noFill/>
        </p:spPr>
        <p:txBody>
          <a:bodyPr wrap="square"/>
          <a:lstStyle/>
          <a:p>
            <a:pPr algn="l">
              <a:defRPr sz="1000" b="0">
                <a:solidFill>
                  <a:srgbClr val="33384D"/>
                </a:solidFill>
                <a:latin typeface="Calibri"/>
              </a:defRPr>
            </a:pPr>
            <a:r>
              <a:t>Batch analytics</a:t>
            </a:r>
            <a:br/>
            <a:r>
              <a:t>only</a:t>
            </a:r>
          </a:p>
        </p:txBody>
      </p:sp>
      <p:sp>
        <p:nvSpPr>
          <p:cNvPr id="20" name="Rectangle 19"/>
          <p:cNvSpPr/>
          <p:nvPr/>
        </p:nvSpPr>
        <p:spPr>
          <a:xfrm>
            <a:off x="457200" y="2606040"/>
            <a:ext cx="228600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651760"/>
            <a:ext cx="2103120" cy="502920"/>
          </a:xfrm>
          <a:prstGeom prst="rect">
            <a:avLst/>
          </a:prstGeom>
          <a:noFill/>
        </p:spPr>
        <p:txBody>
          <a:bodyPr wrap="square"/>
          <a:lstStyle/>
          <a:p>
            <a:pPr algn="l">
              <a:defRPr sz="1000" b="0">
                <a:solidFill>
                  <a:srgbClr val="33384D"/>
                </a:solidFill>
                <a:latin typeface="Calibri"/>
              </a:defRPr>
            </a:pPr>
            <a:r>
              <a:t>Graceful degradation</a:t>
            </a:r>
          </a:p>
        </p:txBody>
      </p:sp>
      <p:sp>
        <p:nvSpPr>
          <p:cNvPr id="22" name="Rectangle 21"/>
          <p:cNvSpPr/>
          <p:nvPr/>
        </p:nvSpPr>
        <p:spPr>
          <a:xfrm>
            <a:off x="2743200" y="260604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2651760"/>
            <a:ext cx="2651760" cy="502920"/>
          </a:xfrm>
          <a:prstGeom prst="rect">
            <a:avLst/>
          </a:prstGeom>
          <a:noFill/>
        </p:spPr>
        <p:txBody>
          <a:bodyPr wrap="square"/>
          <a:lstStyle/>
          <a:p>
            <a:pPr algn="l">
              <a:defRPr sz="1000" b="1">
                <a:solidFill>
                  <a:srgbClr val="00F0FF"/>
                </a:solidFill>
                <a:latin typeface="Calibri"/>
              </a:defRPr>
            </a:pPr>
            <a:r>
              <a:t>3-tier fallback:</a:t>
            </a:r>
            <a:br/>
            <a:r>
              <a:t>ml → db → estimated</a:t>
            </a:r>
          </a:p>
        </p:txBody>
      </p:sp>
      <p:sp>
        <p:nvSpPr>
          <p:cNvPr id="24" name="Rectangle 23"/>
          <p:cNvSpPr/>
          <p:nvPr/>
        </p:nvSpPr>
        <p:spPr>
          <a:xfrm>
            <a:off x="5577840" y="260604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0" y="2651760"/>
            <a:ext cx="2651760" cy="502920"/>
          </a:xfrm>
          <a:prstGeom prst="rect">
            <a:avLst/>
          </a:prstGeom>
          <a:noFill/>
        </p:spPr>
        <p:txBody>
          <a:bodyPr wrap="square"/>
          <a:lstStyle/>
          <a:p>
            <a:pPr algn="l">
              <a:defRPr sz="1000" b="0">
                <a:solidFill>
                  <a:srgbClr val="33384D"/>
                </a:solidFill>
                <a:latin typeface="Calibri"/>
              </a:defRPr>
            </a:pPr>
            <a:r>
              <a:t>Fails on</a:t>
            </a:r>
            <a:br/>
            <a:r>
              <a:t>network loss</a:t>
            </a:r>
          </a:p>
        </p:txBody>
      </p:sp>
      <p:sp>
        <p:nvSpPr>
          <p:cNvPr id="26" name="Rectangle 25"/>
          <p:cNvSpPr/>
          <p:nvPr/>
        </p:nvSpPr>
        <p:spPr>
          <a:xfrm>
            <a:off x="8412480" y="260604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2651760"/>
            <a:ext cx="2651760" cy="502920"/>
          </a:xfrm>
          <a:prstGeom prst="rect">
            <a:avLst/>
          </a:prstGeom>
          <a:noFill/>
        </p:spPr>
        <p:txBody>
          <a:bodyPr wrap="square"/>
          <a:lstStyle/>
          <a:p>
            <a:pPr algn="l">
              <a:defRPr sz="1000" b="0">
                <a:solidFill>
                  <a:srgbClr val="33384D"/>
                </a:solidFill>
                <a:latin typeface="Calibri"/>
              </a:defRPr>
            </a:pPr>
            <a:r>
              <a:t>Fails without</a:t>
            </a:r>
            <a:br/>
            <a:r>
              <a:t>DB connection</a:t>
            </a:r>
          </a:p>
        </p:txBody>
      </p:sp>
      <p:sp>
        <p:nvSpPr>
          <p:cNvPr id="28" name="Rectangle 27"/>
          <p:cNvSpPr/>
          <p:nvPr/>
        </p:nvSpPr>
        <p:spPr>
          <a:xfrm>
            <a:off x="457200" y="3200400"/>
            <a:ext cx="228600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246120"/>
            <a:ext cx="2103120" cy="502920"/>
          </a:xfrm>
          <a:prstGeom prst="rect">
            <a:avLst/>
          </a:prstGeom>
          <a:noFill/>
        </p:spPr>
        <p:txBody>
          <a:bodyPr wrap="square"/>
          <a:lstStyle/>
          <a:p>
            <a:pPr algn="l">
              <a:defRPr sz="1000" b="0">
                <a:solidFill>
                  <a:srgbClr val="33384D"/>
                </a:solidFill>
                <a:latin typeface="Calibri"/>
              </a:defRPr>
            </a:pPr>
            <a:r>
              <a:t>Data requirements</a:t>
            </a:r>
          </a:p>
        </p:txBody>
      </p:sp>
      <p:sp>
        <p:nvSpPr>
          <p:cNvPr id="30" name="Rectangle 29"/>
          <p:cNvSpPr/>
          <p:nvPr/>
        </p:nvSpPr>
        <p:spPr>
          <a:xfrm>
            <a:off x="2743200" y="320040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40" y="3246120"/>
            <a:ext cx="2651760" cy="502920"/>
          </a:xfrm>
          <a:prstGeom prst="rect">
            <a:avLst/>
          </a:prstGeom>
          <a:noFill/>
        </p:spPr>
        <p:txBody>
          <a:bodyPr wrap="square"/>
          <a:lstStyle/>
          <a:p>
            <a:pPr algn="l">
              <a:defRPr sz="1000" b="1">
                <a:solidFill>
                  <a:srgbClr val="00F0FF"/>
                </a:solidFill>
                <a:latin typeface="Calibri"/>
              </a:defRPr>
            </a:pPr>
            <a:r>
              <a:t>Works with synthetic</a:t>
            </a:r>
            <a:br/>
            <a:r>
              <a:t>data out of the box</a:t>
            </a:r>
          </a:p>
        </p:txBody>
      </p:sp>
      <p:sp>
        <p:nvSpPr>
          <p:cNvPr id="32" name="Rectangle 31"/>
          <p:cNvSpPr/>
          <p:nvPr/>
        </p:nvSpPr>
        <p:spPr>
          <a:xfrm>
            <a:off x="5577840" y="320040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246120"/>
            <a:ext cx="2651760" cy="502920"/>
          </a:xfrm>
          <a:prstGeom prst="rect">
            <a:avLst/>
          </a:prstGeom>
          <a:noFill/>
        </p:spPr>
        <p:txBody>
          <a:bodyPr wrap="square"/>
          <a:lstStyle/>
          <a:p>
            <a:pPr algn="l">
              <a:defRPr sz="1000" b="0">
                <a:solidFill>
                  <a:srgbClr val="33384D"/>
                </a:solidFill>
                <a:latin typeface="Calibri"/>
              </a:defRPr>
            </a:pPr>
            <a:r>
              <a:t>Requires years</a:t>
            </a:r>
            <a:br/>
            <a:r>
              <a:t>of clean data</a:t>
            </a:r>
          </a:p>
        </p:txBody>
      </p:sp>
      <p:sp>
        <p:nvSpPr>
          <p:cNvPr id="34" name="Rectangle 33"/>
          <p:cNvSpPr/>
          <p:nvPr/>
        </p:nvSpPr>
        <p:spPr>
          <a:xfrm>
            <a:off x="8412480" y="320040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3246120"/>
            <a:ext cx="2651760" cy="502920"/>
          </a:xfrm>
          <a:prstGeom prst="rect">
            <a:avLst/>
          </a:prstGeom>
          <a:noFill/>
        </p:spPr>
        <p:txBody>
          <a:bodyPr wrap="square"/>
          <a:lstStyle/>
          <a:p>
            <a:pPr algn="l">
              <a:defRPr sz="1000" b="0">
                <a:solidFill>
                  <a:srgbClr val="33384D"/>
                </a:solidFill>
                <a:latin typeface="Calibri"/>
              </a:defRPr>
            </a:pPr>
            <a:r>
              <a:t>Requires ETL</a:t>
            </a:r>
            <a:br/>
            <a:r>
              <a:t>pipeline setup</a:t>
            </a:r>
          </a:p>
        </p:txBody>
      </p:sp>
      <p:sp>
        <p:nvSpPr>
          <p:cNvPr id="36" name="Rectangle 35"/>
          <p:cNvSpPr/>
          <p:nvPr/>
        </p:nvSpPr>
        <p:spPr>
          <a:xfrm>
            <a:off x="457200" y="3794760"/>
            <a:ext cx="228600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840480"/>
            <a:ext cx="2103120" cy="502920"/>
          </a:xfrm>
          <a:prstGeom prst="rect">
            <a:avLst/>
          </a:prstGeom>
          <a:noFill/>
        </p:spPr>
        <p:txBody>
          <a:bodyPr wrap="square"/>
          <a:lstStyle/>
          <a:p>
            <a:pPr algn="l">
              <a:defRPr sz="1000" b="0">
                <a:solidFill>
                  <a:srgbClr val="33384D"/>
                </a:solidFill>
                <a:latin typeface="Calibri"/>
              </a:defRPr>
            </a:pPr>
            <a:r>
              <a:t>Deployment</a:t>
            </a:r>
          </a:p>
        </p:txBody>
      </p:sp>
      <p:sp>
        <p:nvSpPr>
          <p:cNvPr id="38" name="Rectangle 37"/>
          <p:cNvSpPr/>
          <p:nvPr/>
        </p:nvSpPr>
        <p:spPr>
          <a:xfrm>
            <a:off x="2743200" y="379476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34640" y="3840480"/>
            <a:ext cx="2651760" cy="502920"/>
          </a:xfrm>
          <a:prstGeom prst="rect">
            <a:avLst/>
          </a:prstGeom>
          <a:noFill/>
        </p:spPr>
        <p:txBody>
          <a:bodyPr wrap="square"/>
          <a:lstStyle/>
          <a:p>
            <a:pPr algn="l">
              <a:defRPr sz="1000" b="1">
                <a:solidFill>
                  <a:srgbClr val="00F0FF"/>
                </a:solidFill>
                <a:latin typeface="Calibri"/>
              </a:defRPr>
            </a:pPr>
            <a:r>
              <a:t>10-min setup</a:t>
            </a:r>
            <a:br/>
            <a:r>
              <a:t>SQLite included</a:t>
            </a:r>
          </a:p>
        </p:txBody>
      </p:sp>
      <p:sp>
        <p:nvSpPr>
          <p:cNvPr id="40" name="Rectangle 39"/>
          <p:cNvSpPr/>
          <p:nvPr/>
        </p:nvSpPr>
        <p:spPr>
          <a:xfrm>
            <a:off x="5577840" y="379476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0" y="3840480"/>
            <a:ext cx="2651760" cy="502920"/>
          </a:xfrm>
          <a:prstGeom prst="rect">
            <a:avLst/>
          </a:prstGeom>
          <a:noFill/>
        </p:spPr>
        <p:txBody>
          <a:bodyPr wrap="square"/>
          <a:lstStyle/>
          <a:p>
            <a:pPr algn="l">
              <a:defRPr sz="1000" b="0">
                <a:solidFill>
                  <a:srgbClr val="33384D"/>
                </a:solidFill>
                <a:latin typeface="Calibri"/>
              </a:defRPr>
            </a:pPr>
            <a:r>
              <a:t>Months of</a:t>
            </a:r>
            <a:br/>
            <a:r>
              <a:t>implementation</a:t>
            </a:r>
          </a:p>
        </p:txBody>
      </p:sp>
      <p:sp>
        <p:nvSpPr>
          <p:cNvPr id="42" name="Rectangle 41"/>
          <p:cNvSpPr/>
          <p:nvPr/>
        </p:nvSpPr>
        <p:spPr>
          <a:xfrm>
            <a:off x="8412480" y="379476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03920" y="3840480"/>
            <a:ext cx="2651760" cy="502920"/>
          </a:xfrm>
          <a:prstGeom prst="rect">
            <a:avLst/>
          </a:prstGeom>
          <a:noFill/>
        </p:spPr>
        <p:txBody>
          <a:bodyPr wrap="square"/>
          <a:lstStyle/>
          <a:p>
            <a:pPr algn="l">
              <a:defRPr sz="1000" b="0">
                <a:solidFill>
                  <a:srgbClr val="33384D"/>
                </a:solidFill>
                <a:latin typeface="Calibri"/>
              </a:defRPr>
            </a:pPr>
            <a:r>
              <a:t>Enterprise</a:t>
            </a:r>
            <a:br/>
            <a:r>
              <a:t>integration</a:t>
            </a:r>
          </a:p>
        </p:txBody>
      </p:sp>
      <p:sp>
        <p:nvSpPr>
          <p:cNvPr id="44" name="Rectangle 43"/>
          <p:cNvSpPr/>
          <p:nvPr/>
        </p:nvSpPr>
        <p:spPr>
          <a:xfrm>
            <a:off x="457200" y="4389120"/>
            <a:ext cx="228600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4434840"/>
            <a:ext cx="2103120" cy="502920"/>
          </a:xfrm>
          <a:prstGeom prst="rect">
            <a:avLst/>
          </a:prstGeom>
          <a:noFill/>
        </p:spPr>
        <p:txBody>
          <a:bodyPr wrap="square"/>
          <a:lstStyle/>
          <a:p>
            <a:pPr algn="l">
              <a:defRPr sz="1000" b="0">
                <a:solidFill>
                  <a:srgbClr val="33384D"/>
                </a:solidFill>
                <a:latin typeface="Calibri"/>
              </a:defRPr>
            </a:pPr>
            <a:r>
              <a:t>Vendor lock-in</a:t>
            </a:r>
          </a:p>
        </p:txBody>
      </p:sp>
      <p:sp>
        <p:nvSpPr>
          <p:cNvPr id="46" name="Rectangle 45"/>
          <p:cNvSpPr/>
          <p:nvPr/>
        </p:nvSpPr>
        <p:spPr>
          <a:xfrm>
            <a:off x="2743200" y="438912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4640" y="4434840"/>
            <a:ext cx="2651760" cy="502920"/>
          </a:xfrm>
          <a:prstGeom prst="rect">
            <a:avLst/>
          </a:prstGeom>
          <a:noFill/>
        </p:spPr>
        <p:txBody>
          <a:bodyPr wrap="square"/>
          <a:lstStyle/>
          <a:p>
            <a:pPr algn="l">
              <a:defRPr sz="1000" b="1">
                <a:solidFill>
                  <a:srgbClr val="00F0FF"/>
                </a:solidFill>
                <a:latin typeface="Calibri"/>
              </a:defRPr>
            </a:pPr>
            <a:r>
              <a:t>Open architecture.</a:t>
            </a:r>
            <a:br/>
            <a:r>
              <a:t>MIT license.</a:t>
            </a:r>
          </a:p>
        </p:txBody>
      </p:sp>
      <p:sp>
        <p:nvSpPr>
          <p:cNvPr id="48" name="Rectangle 47"/>
          <p:cNvSpPr/>
          <p:nvPr/>
        </p:nvSpPr>
        <p:spPr>
          <a:xfrm>
            <a:off x="5577840" y="438912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0" y="4434840"/>
            <a:ext cx="2651760" cy="502920"/>
          </a:xfrm>
          <a:prstGeom prst="rect">
            <a:avLst/>
          </a:prstGeom>
          <a:noFill/>
        </p:spPr>
        <p:txBody>
          <a:bodyPr wrap="square"/>
          <a:lstStyle/>
          <a:p>
            <a:pPr algn="l">
              <a:defRPr sz="1000" b="0">
                <a:solidFill>
                  <a:srgbClr val="33384D"/>
                </a:solidFill>
                <a:latin typeface="Calibri"/>
              </a:defRPr>
            </a:pPr>
            <a:r>
              <a:t>Proprietary</a:t>
            </a:r>
            <a:br/>
            <a:r>
              <a:t>vendor lock-in</a:t>
            </a:r>
          </a:p>
        </p:txBody>
      </p:sp>
      <p:sp>
        <p:nvSpPr>
          <p:cNvPr id="50" name="Rectangle 49"/>
          <p:cNvSpPr/>
          <p:nvPr/>
        </p:nvSpPr>
        <p:spPr>
          <a:xfrm>
            <a:off x="8412480" y="4389120"/>
            <a:ext cx="2834640" cy="59436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03920" y="4434840"/>
            <a:ext cx="2651760" cy="502920"/>
          </a:xfrm>
          <a:prstGeom prst="rect">
            <a:avLst/>
          </a:prstGeom>
          <a:noFill/>
        </p:spPr>
        <p:txBody>
          <a:bodyPr wrap="square"/>
          <a:lstStyle/>
          <a:p>
            <a:pPr algn="l">
              <a:defRPr sz="1000" b="0">
                <a:solidFill>
                  <a:srgbClr val="33384D"/>
                </a:solidFill>
                <a:latin typeface="Calibri"/>
              </a:defRPr>
            </a:pPr>
            <a:r>
              <a:t>SaaS subscription</a:t>
            </a:r>
            <a:br/>
            <a:r>
              <a:t>lock-in</a:t>
            </a:r>
          </a:p>
        </p:txBody>
      </p:sp>
      <p:sp>
        <p:nvSpPr>
          <p:cNvPr id="52" name="Rectangle 51"/>
          <p:cNvSpPr/>
          <p:nvPr/>
        </p:nvSpPr>
        <p:spPr>
          <a:xfrm>
            <a:off x="457200" y="4983480"/>
            <a:ext cx="228600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5029200"/>
            <a:ext cx="2103120" cy="502920"/>
          </a:xfrm>
          <a:prstGeom prst="rect">
            <a:avLst/>
          </a:prstGeom>
          <a:noFill/>
        </p:spPr>
        <p:txBody>
          <a:bodyPr wrap="square"/>
          <a:lstStyle/>
          <a:p>
            <a:pPr algn="l">
              <a:defRPr sz="1000" b="0">
                <a:solidFill>
                  <a:srgbClr val="33384D"/>
                </a:solidFill>
                <a:latin typeface="Calibri"/>
              </a:defRPr>
            </a:pPr>
            <a:r>
              <a:t>Indian context</a:t>
            </a:r>
          </a:p>
        </p:txBody>
      </p:sp>
      <p:sp>
        <p:nvSpPr>
          <p:cNvPr id="54" name="Rectangle 53"/>
          <p:cNvSpPr/>
          <p:nvPr/>
        </p:nvSpPr>
        <p:spPr>
          <a:xfrm>
            <a:off x="2743200" y="498348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34640" y="5029200"/>
            <a:ext cx="2651760" cy="502920"/>
          </a:xfrm>
          <a:prstGeom prst="rect">
            <a:avLst/>
          </a:prstGeom>
          <a:noFill/>
        </p:spPr>
        <p:txBody>
          <a:bodyPr wrap="square"/>
          <a:lstStyle/>
          <a:p>
            <a:pPr algn="l">
              <a:defRPr sz="1000" b="1">
                <a:solidFill>
                  <a:srgbClr val="00F0FF"/>
                </a:solidFill>
                <a:latin typeface="Calibri"/>
              </a:defRPr>
            </a:pPr>
            <a:r>
              <a:t>Built for India.</a:t>
            </a:r>
            <a:br/>
            <a:r>
              <a:t>36 states, 6 diseases.</a:t>
            </a:r>
          </a:p>
        </p:txBody>
      </p:sp>
      <p:sp>
        <p:nvSpPr>
          <p:cNvPr id="56" name="Rectangle 55"/>
          <p:cNvSpPr/>
          <p:nvPr/>
        </p:nvSpPr>
        <p:spPr>
          <a:xfrm>
            <a:off x="5577840" y="498348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69280" y="5029200"/>
            <a:ext cx="2651760" cy="502920"/>
          </a:xfrm>
          <a:prstGeom prst="rect">
            <a:avLst/>
          </a:prstGeom>
          <a:noFill/>
        </p:spPr>
        <p:txBody>
          <a:bodyPr wrap="square"/>
          <a:lstStyle/>
          <a:p>
            <a:pPr algn="l">
              <a:defRPr sz="1000" b="0">
                <a:solidFill>
                  <a:srgbClr val="33384D"/>
                </a:solidFill>
                <a:latin typeface="Calibri"/>
              </a:defRPr>
            </a:pPr>
            <a:r>
              <a:t>International,</a:t>
            </a:r>
            <a:br/>
            <a:r>
              <a:t>India as afterthought</a:t>
            </a:r>
          </a:p>
        </p:txBody>
      </p:sp>
      <p:sp>
        <p:nvSpPr>
          <p:cNvPr id="58" name="Rectangle 57"/>
          <p:cNvSpPr/>
          <p:nvPr/>
        </p:nvSpPr>
        <p:spPr>
          <a:xfrm>
            <a:off x="8412480" y="4983480"/>
            <a:ext cx="2834640" cy="594360"/>
          </a:xfrm>
          <a:prstGeom prst="rect">
            <a:avLst/>
          </a:prstGeom>
          <a:solidFill>
            <a:srgbClr val="F8FAFE"/>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03920" y="5029200"/>
            <a:ext cx="2651760" cy="502920"/>
          </a:xfrm>
          <a:prstGeom prst="rect">
            <a:avLst/>
          </a:prstGeom>
          <a:noFill/>
        </p:spPr>
        <p:txBody>
          <a:bodyPr wrap="square"/>
          <a:lstStyle/>
          <a:p>
            <a:pPr algn="l">
              <a:defRPr sz="1000" b="0">
                <a:solidFill>
                  <a:srgbClr val="33384D"/>
                </a:solidFill>
                <a:latin typeface="Calibri"/>
              </a:defRPr>
            </a:pPr>
            <a:r>
              <a:t>Generic,</a:t>
            </a:r>
            <a:br/>
            <a:r>
              <a:t>no India focus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457200"/>
          </a:xfrm>
          <a:prstGeom prst="rect">
            <a:avLst/>
          </a:prstGeom>
          <a:noFill/>
        </p:spPr>
        <p:txBody>
          <a:bodyPr wrap="square"/>
          <a:lstStyle/>
          <a:p>
            <a:pPr algn="l">
              <a:defRPr sz="2800" b="1">
                <a:solidFill>
                  <a:srgbClr val="FFFFFF"/>
                </a:solidFill>
                <a:latin typeface="Cambria"/>
              </a:defRPr>
            </a:pPr>
            <a:r>
              <a:t>What We’re Asking HCL For</a:t>
            </a:r>
          </a:p>
        </p:txBody>
      </p:sp>
      <p:sp>
        <p:nvSpPr>
          <p:cNvPr id="4" name="TextBox 3"/>
          <p:cNvSpPr txBox="1"/>
          <p:nvPr/>
        </p:nvSpPr>
        <p:spPr>
          <a:xfrm>
            <a:off x="731520" y="1097280"/>
            <a:ext cx="10515600" cy="365760"/>
          </a:xfrm>
          <a:prstGeom prst="rect">
            <a:avLst/>
          </a:prstGeom>
          <a:noFill/>
        </p:spPr>
        <p:txBody>
          <a:bodyPr wrap="square"/>
          <a:lstStyle/>
          <a:p>
            <a:pPr algn="l">
              <a:defRPr sz="1500" b="0">
                <a:solidFill>
                  <a:srgbClr val="CADCFC"/>
                </a:solidFill>
                <a:latin typeface="Calibri"/>
              </a:defRPr>
            </a:pPr>
            <a:r>
              <a:t>Three concrete asks rooted in our technical roadmap. HCL is the infrastructure bridge to production.</a:t>
            </a:r>
          </a:p>
        </p:txBody>
      </p:sp>
      <p:sp>
        <p:nvSpPr>
          <p:cNvPr id="5" name="Oval 4"/>
          <p:cNvSpPr/>
          <p:nvPr/>
        </p:nvSpPr>
        <p:spPr>
          <a:xfrm>
            <a:off x="1920240" y="1828800"/>
            <a:ext cx="548640" cy="548640"/>
          </a:xfrm>
          <a:prstGeom prst="ellipse">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2761"/>
                </a:solidFill>
              </a:defRPr>
            </a:pPr>
            <a:r>
              <a:t>01</a:t>
            </a:r>
          </a:p>
        </p:txBody>
      </p:sp>
      <p:sp>
        <p:nvSpPr>
          <p:cNvPr id="6" name="Rectangle 5"/>
          <p:cNvSpPr/>
          <p:nvPr/>
        </p:nvSpPr>
        <p:spPr>
          <a:xfrm>
            <a:off x="731520" y="2560320"/>
            <a:ext cx="3474720" cy="3200400"/>
          </a:xfrm>
          <a:prstGeom prst="rect">
            <a:avLst/>
          </a:prstGeom>
          <a:solidFill>
            <a:srgbClr val="CADCFC"/>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51760"/>
            <a:ext cx="3108960" cy="640080"/>
          </a:xfrm>
          <a:prstGeom prst="rect">
            <a:avLst/>
          </a:prstGeom>
          <a:noFill/>
        </p:spPr>
        <p:txBody>
          <a:bodyPr wrap="square"/>
          <a:lstStyle/>
          <a:p>
            <a:pPr algn="ctr">
              <a:defRPr sz="1600" b="1">
                <a:solidFill>
                  <a:srgbClr val="1E2761"/>
                </a:solidFill>
                <a:latin typeface="Calibri"/>
              </a:defRPr>
            </a:pPr>
            <a:r>
              <a:t>Real PHI-Compliant</a:t>
            </a:r>
            <a:br/>
            <a:r>
              <a:t>Hospital Data</a:t>
            </a:r>
          </a:p>
        </p:txBody>
      </p:sp>
      <p:sp>
        <p:nvSpPr>
          <p:cNvPr id="8" name="TextBox 7"/>
          <p:cNvSpPr txBox="1"/>
          <p:nvPr/>
        </p:nvSpPr>
        <p:spPr>
          <a:xfrm>
            <a:off x="914400" y="3383280"/>
            <a:ext cx="3108960" cy="2103120"/>
          </a:xfrm>
          <a:prstGeom prst="rect">
            <a:avLst/>
          </a:prstGeom>
          <a:noFill/>
        </p:spPr>
        <p:txBody>
          <a:bodyPr wrap="square"/>
          <a:lstStyle/>
          <a:p>
            <a:pPr algn="l">
              <a:defRPr sz="1100" b="0">
                <a:solidFill>
                  <a:srgbClr val="33384D"/>
                </a:solidFill>
                <a:latin typeface="Calibri"/>
              </a:defRPr>
            </a:pPr>
            <a:r>
              <a:t>Our 1.6M records are synthetic — statistically valid but not real. We need de-identified patient records from 5–10 TN hospitals to retrain and validate models on real-world distributions. HCL’s existing TN government relationships unlock this data access.</a:t>
            </a:r>
          </a:p>
        </p:txBody>
      </p:sp>
      <p:sp>
        <p:nvSpPr>
          <p:cNvPr id="9" name="Oval 8"/>
          <p:cNvSpPr/>
          <p:nvPr/>
        </p:nvSpPr>
        <p:spPr>
          <a:xfrm>
            <a:off x="5669279" y="1828800"/>
            <a:ext cx="548640" cy="548640"/>
          </a:xfrm>
          <a:prstGeom prst="ellipse">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2761"/>
                </a:solidFill>
              </a:defRPr>
            </a:pPr>
            <a:r>
              <a:t>02</a:t>
            </a:r>
          </a:p>
        </p:txBody>
      </p:sp>
      <p:sp>
        <p:nvSpPr>
          <p:cNvPr id="10" name="Rectangle 9"/>
          <p:cNvSpPr/>
          <p:nvPr/>
        </p:nvSpPr>
        <p:spPr>
          <a:xfrm>
            <a:off x="4480559" y="2560320"/>
            <a:ext cx="3474720" cy="3200400"/>
          </a:xfrm>
          <a:prstGeom prst="rect">
            <a:avLst/>
          </a:prstGeom>
          <a:solidFill>
            <a:srgbClr val="CADCFC"/>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39" y="2651760"/>
            <a:ext cx="3108960" cy="640080"/>
          </a:xfrm>
          <a:prstGeom prst="rect">
            <a:avLst/>
          </a:prstGeom>
          <a:noFill/>
        </p:spPr>
        <p:txBody>
          <a:bodyPr wrap="square"/>
          <a:lstStyle/>
          <a:p>
            <a:pPr algn="ctr">
              <a:defRPr sz="1600" b="1">
                <a:solidFill>
                  <a:srgbClr val="1E2761"/>
                </a:solidFill>
                <a:latin typeface="Calibri"/>
              </a:defRPr>
            </a:pPr>
            <a:r>
              <a:t>PostgreSQL Production</a:t>
            </a:r>
            <a:br/>
            <a:r>
              <a:t>Migration Support</a:t>
            </a:r>
          </a:p>
        </p:txBody>
      </p:sp>
      <p:sp>
        <p:nvSpPr>
          <p:cNvPr id="12" name="TextBox 11"/>
          <p:cNvSpPr txBox="1"/>
          <p:nvPr/>
        </p:nvSpPr>
        <p:spPr>
          <a:xfrm>
            <a:off x="4663439" y="3383280"/>
            <a:ext cx="3108960" cy="2103120"/>
          </a:xfrm>
          <a:prstGeom prst="rect">
            <a:avLst/>
          </a:prstGeom>
          <a:noFill/>
        </p:spPr>
        <p:txBody>
          <a:bodyPr wrap="square"/>
          <a:lstStyle/>
          <a:p>
            <a:pPr algn="l">
              <a:defRPr sz="1100" b="0">
                <a:solidFill>
                  <a:srgbClr val="33384D"/>
                </a:solidFill>
                <a:latin typeface="Calibri"/>
              </a:defRPr>
            </a:pPr>
            <a:r>
              <a:t>Currently on SQLite with auto-fallback. Production requires PostgreSQL — connection pooling, replication, point-in-time recovery. We need HCL’s enterprise infrastructure team to architect and implement the migration.</a:t>
            </a:r>
          </a:p>
        </p:txBody>
      </p:sp>
      <p:sp>
        <p:nvSpPr>
          <p:cNvPr id="13" name="Oval 12"/>
          <p:cNvSpPr/>
          <p:nvPr/>
        </p:nvSpPr>
        <p:spPr>
          <a:xfrm>
            <a:off x="9418318" y="1828800"/>
            <a:ext cx="548640" cy="548640"/>
          </a:xfrm>
          <a:prstGeom prst="ellipse">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2761"/>
                </a:solidFill>
              </a:defRPr>
            </a:pPr>
            <a:r>
              <a:t>03</a:t>
            </a:r>
          </a:p>
        </p:txBody>
      </p:sp>
      <p:sp>
        <p:nvSpPr>
          <p:cNvPr id="14" name="Rectangle 13"/>
          <p:cNvSpPr/>
          <p:nvPr/>
        </p:nvSpPr>
        <p:spPr>
          <a:xfrm>
            <a:off x="8229598" y="2560320"/>
            <a:ext cx="3474720" cy="3200400"/>
          </a:xfrm>
          <a:prstGeom prst="rect">
            <a:avLst/>
          </a:prstGeom>
          <a:solidFill>
            <a:srgbClr val="CADCFC"/>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8" y="2651760"/>
            <a:ext cx="3108960" cy="640080"/>
          </a:xfrm>
          <a:prstGeom prst="rect">
            <a:avLst/>
          </a:prstGeom>
          <a:noFill/>
        </p:spPr>
        <p:txBody>
          <a:bodyPr wrap="square"/>
          <a:lstStyle/>
          <a:p>
            <a:pPr algn="ctr">
              <a:defRPr sz="1600" b="1">
                <a:solidFill>
                  <a:srgbClr val="1E2761"/>
                </a:solidFill>
                <a:latin typeface="Calibri"/>
              </a:defRPr>
            </a:pPr>
            <a:r>
              <a:t>TN Government Health</a:t>
            </a:r>
            <a:br/>
            <a:r>
              <a:t>Body Introduction</a:t>
            </a:r>
          </a:p>
        </p:txBody>
      </p:sp>
      <p:sp>
        <p:nvSpPr>
          <p:cNvPr id="16" name="TextBox 15"/>
          <p:cNvSpPr txBox="1"/>
          <p:nvPr/>
        </p:nvSpPr>
        <p:spPr>
          <a:xfrm>
            <a:off x="8412478" y="3383280"/>
            <a:ext cx="3108960" cy="2103120"/>
          </a:xfrm>
          <a:prstGeom prst="rect">
            <a:avLst/>
          </a:prstGeom>
          <a:noFill/>
        </p:spPr>
        <p:txBody>
          <a:bodyPr wrap="square"/>
          <a:lstStyle/>
          <a:p>
            <a:pPr algn="l">
              <a:defRPr sz="1100" b="0">
                <a:solidFill>
                  <a:srgbClr val="33384D"/>
                </a:solidFill>
                <a:latin typeface="Calibri"/>
              </a:defRPr>
            </a:pPr>
            <a:r>
              <a:t>We have the product. We need the channel. An introduction to TN’s Directorate of Health Services or Tamil Nadu e-Health Authority would enable a pilot deployment across 5 district hospitals.</a:t>
            </a:r>
          </a:p>
        </p:txBody>
      </p:sp>
      <p:sp>
        <p:nvSpPr>
          <p:cNvPr id="17" name="Rectangle 16"/>
          <p:cNvSpPr/>
          <p:nvPr/>
        </p:nvSpPr>
        <p:spPr>
          <a:xfrm>
            <a:off x="731520" y="6035040"/>
            <a:ext cx="10698480" cy="73152"/>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lstStyle/>
          <a:p>
            <a:pPr algn="l">
              <a:defRPr sz="2800" b="1">
                <a:solidFill>
                  <a:srgbClr val="1E2761"/>
                </a:solidFill>
                <a:latin typeface="Cambria"/>
              </a:defRPr>
            </a:pPr>
            <a:r>
              <a:t>Roadmap</a:t>
            </a:r>
          </a:p>
        </p:txBody>
      </p:sp>
      <p:sp>
        <p:nvSpPr>
          <p:cNvPr id="3" name="TextBox 2"/>
          <p:cNvSpPr txBox="1"/>
          <p:nvPr/>
        </p:nvSpPr>
        <p:spPr>
          <a:xfrm>
            <a:off x="731520" y="960120"/>
            <a:ext cx="10515600" cy="365760"/>
          </a:xfrm>
          <a:prstGeom prst="rect">
            <a:avLst/>
          </a:prstGeom>
          <a:noFill/>
        </p:spPr>
        <p:txBody>
          <a:bodyPr wrap="square"/>
          <a:lstStyle/>
          <a:p>
            <a:pPr algn="l">
              <a:defRPr sz="1600" b="0">
                <a:solidFill>
                  <a:srgbClr val="33384D"/>
                </a:solidFill>
                <a:latin typeface="Calibri"/>
              </a:defRPr>
            </a:pPr>
            <a:r>
              <a:t>Four quarters to production deployment across Tamil Nadu’s public health system.</a:t>
            </a:r>
          </a:p>
        </p:txBody>
      </p:sp>
      <p:sp>
        <p:nvSpPr>
          <p:cNvPr id="4" name="Rectangle 3"/>
          <p:cNvSpPr/>
          <p:nvPr/>
        </p:nvSpPr>
        <p:spPr>
          <a:xfrm>
            <a:off x="457200" y="1554480"/>
            <a:ext cx="2743200" cy="502920"/>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72768"/>
            <a:ext cx="1371600" cy="457200"/>
          </a:xfrm>
          <a:prstGeom prst="rect">
            <a:avLst/>
          </a:prstGeom>
          <a:noFill/>
        </p:spPr>
        <p:txBody>
          <a:bodyPr wrap="square"/>
          <a:lstStyle/>
          <a:p>
            <a:pPr algn="l">
              <a:defRPr sz="1600" b="1">
                <a:solidFill>
                  <a:srgbClr val="FFFFFF"/>
                </a:solidFill>
                <a:latin typeface="Calibri"/>
              </a:defRPr>
            </a:pPr>
            <a:r>
              <a:t>Q1 2027</a:t>
            </a:r>
          </a:p>
        </p:txBody>
      </p:sp>
      <p:sp>
        <p:nvSpPr>
          <p:cNvPr id="6" name="TextBox 5"/>
          <p:cNvSpPr txBox="1"/>
          <p:nvPr/>
        </p:nvSpPr>
        <p:spPr>
          <a:xfrm>
            <a:off x="1828800" y="1572768"/>
            <a:ext cx="1188720" cy="457200"/>
          </a:xfrm>
          <a:prstGeom prst="rect">
            <a:avLst/>
          </a:prstGeom>
          <a:noFill/>
        </p:spPr>
        <p:txBody>
          <a:bodyPr wrap="square"/>
          <a:lstStyle/>
          <a:p>
            <a:pPr algn="r">
              <a:defRPr sz="1100" b="1">
                <a:solidFill>
                  <a:srgbClr val="FFFFFF"/>
                </a:solidFill>
                <a:latin typeface="Calibri"/>
              </a:defRPr>
            </a:pPr>
            <a:r>
              <a:t>FOUNDATION</a:t>
            </a:r>
          </a:p>
        </p:txBody>
      </p:sp>
      <p:sp>
        <p:nvSpPr>
          <p:cNvPr id="7" name="Rectangle 6"/>
          <p:cNvSpPr/>
          <p:nvPr/>
        </p:nvSpPr>
        <p:spPr>
          <a:xfrm>
            <a:off x="457200" y="2057400"/>
            <a:ext cx="2743200" cy="32004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94560"/>
            <a:ext cx="2468880" cy="2926080"/>
          </a:xfrm>
          <a:prstGeom prst="rect">
            <a:avLst/>
          </a:prstGeom>
          <a:noFill/>
        </p:spPr>
        <p:txBody>
          <a:bodyPr wrap="square">
            <a:spAutoFit/>
          </a:bodyPr>
          <a:lstStyle/>
          <a:p>
            <a:pPr>
              <a:spcAft>
                <a:spcPts val="800"/>
              </a:spcAft>
              <a:defRPr sz="1100">
                <a:solidFill>
                  <a:srgbClr val="33384D"/>
                </a:solidFill>
                <a:latin typeface="Calibri"/>
              </a:defRPr>
            </a:pPr>
            <a:r>
              <a:t>•  Enable TypeScript strict mode (currently noImplicitAny: false)</a:t>
            </a:r>
          </a:p>
          <a:p>
            <a:pPr>
              <a:spcAft>
                <a:spcPts val="800"/>
              </a:spcAft>
              <a:defRPr sz="1100">
                <a:solidFill>
                  <a:srgbClr val="33384D"/>
                </a:solidFill>
                <a:latin typeface="Calibri"/>
              </a:defRPr>
            </a:pPr>
            <a:r>
              <a:t>•  Ingest real de-identified data from 5 TN pilot hospitals</a:t>
            </a:r>
          </a:p>
          <a:p>
            <a:pPr>
              <a:spcAft>
                <a:spcPts val="800"/>
              </a:spcAft>
              <a:defRPr sz="1100">
                <a:solidFill>
                  <a:srgbClr val="33384D"/>
                </a:solidFill>
                <a:latin typeface="Calibri"/>
              </a:defRPr>
            </a:pPr>
            <a:r>
              <a:t>•  Retrain all 7 models on real distributions</a:t>
            </a:r>
          </a:p>
          <a:p>
            <a:pPr>
              <a:spcAft>
                <a:spcPts val="800"/>
              </a:spcAft>
              <a:defRPr sz="1100">
                <a:solidFill>
                  <a:srgbClr val="33384D"/>
                </a:solidFill>
                <a:latin typeface="Calibri"/>
              </a:defRPr>
            </a:pPr>
            <a:r>
              <a:t>•  HL7/FHIR integration for HMIS compatibility</a:t>
            </a:r>
          </a:p>
        </p:txBody>
      </p:sp>
      <p:sp>
        <p:nvSpPr>
          <p:cNvPr id="9" name="Right Arrow 8"/>
          <p:cNvSpPr/>
          <p:nvPr/>
        </p:nvSpPr>
        <p:spPr>
          <a:xfrm>
            <a:off x="3246120" y="2560320"/>
            <a:ext cx="182880" cy="182880"/>
          </a:xfrm>
          <a:prstGeom prst="rightArrow">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554480"/>
            <a:ext cx="2743200" cy="50292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72768"/>
            <a:ext cx="1371600" cy="457200"/>
          </a:xfrm>
          <a:prstGeom prst="rect">
            <a:avLst/>
          </a:prstGeom>
          <a:noFill/>
        </p:spPr>
        <p:txBody>
          <a:bodyPr wrap="square"/>
          <a:lstStyle/>
          <a:p>
            <a:pPr algn="l">
              <a:defRPr sz="1600" b="1">
                <a:solidFill>
                  <a:srgbClr val="FFFFFF"/>
                </a:solidFill>
                <a:latin typeface="Calibri"/>
              </a:defRPr>
            </a:pPr>
            <a:r>
              <a:t>Q2 2027</a:t>
            </a:r>
          </a:p>
        </p:txBody>
      </p:sp>
      <p:sp>
        <p:nvSpPr>
          <p:cNvPr id="12" name="TextBox 11"/>
          <p:cNvSpPr txBox="1"/>
          <p:nvPr/>
        </p:nvSpPr>
        <p:spPr>
          <a:xfrm>
            <a:off x="4754880" y="1572768"/>
            <a:ext cx="1188720" cy="457200"/>
          </a:xfrm>
          <a:prstGeom prst="rect">
            <a:avLst/>
          </a:prstGeom>
          <a:noFill/>
        </p:spPr>
        <p:txBody>
          <a:bodyPr wrap="square"/>
          <a:lstStyle/>
          <a:p>
            <a:pPr algn="r">
              <a:defRPr sz="1100" b="1">
                <a:solidFill>
                  <a:srgbClr val="00F0FF"/>
                </a:solidFill>
                <a:latin typeface="Calibri"/>
              </a:defRPr>
            </a:pPr>
            <a:r>
              <a:t>PRODUCTION</a:t>
            </a:r>
          </a:p>
        </p:txBody>
      </p:sp>
      <p:sp>
        <p:nvSpPr>
          <p:cNvPr id="13" name="Rectangle 12"/>
          <p:cNvSpPr/>
          <p:nvPr/>
        </p:nvSpPr>
        <p:spPr>
          <a:xfrm>
            <a:off x="3383280" y="2057400"/>
            <a:ext cx="2743200" cy="32004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2194560"/>
            <a:ext cx="2468880" cy="2926080"/>
          </a:xfrm>
          <a:prstGeom prst="rect">
            <a:avLst/>
          </a:prstGeom>
          <a:noFill/>
        </p:spPr>
        <p:txBody>
          <a:bodyPr wrap="square">
            <a:spAutoFit/>
          </a:bodyPr>
          <a:lstStyle/>
          <a:p>
            <a:pPr>
              <a:spcAft>
                <a:spcPts val="800"/>
              </a:spcAft>
              <a:defRPr sz="1100">
                <a:solidFill>
                  <a:srgbClr val="33384D"/>
                </a:solidFill>
                <a:latin typeface="Calibri"/>
              </a:defRPr>
            </a:pPr>
            <a:r>
              <a:t>•  Migrate from SQLite to PostgreSQL with connection pooling</a:t>
            </a:r>
          </a:p>
          <a:p>
            <a:pPr>
              <a:spcAft>
                <a:spcPts val="800"/>
              </a:spcAft>
              <a:defRPr sz="1100">
                <a:solidFill>
                  <a:srgbClr val="33384D"/>
                </a:solidFill>
                <a:latin typeface="Calibri"/>
              </a:defRPr>
            </a:pPr>
            <a:r>
              <a:t>•  Async ML prediction pipeline for concurrent requests</a:t>
            </a:r>
          </a:p>
          <a:p>
            <a:pPr>
              <a:spcAft>
                <a:spcPts val="800"/>
              </a:spcAft>
              <a:defRPr sz="1100">
                <a:solidFill>
                  <a:srgbClr val="33384D"/>
                </a:solidFill>
                <a:latin typeface="Calibri"/>
              </a:defRPr>
            </a:pPr>
            <a:r>
              <a:t>•  Redis caching layer for frequent queries</a:t>
            </a:r>
          </a:p>
          <a:p>
            <a:pPr>
              <a:spcAft>
                <a:spcPts val="800"/>
              </a:spcAft>
              <a:defRPr sz="1100">
                <a:solidFill>
                  <a:srgbClr val="33384D"/>
                </a:solidFill>
                <a:latin typeface="Calibri"/>
              </a:defRPr>
            </a:pPr>
            <a:r>
              <a:t>•  Role-based access control (admin, state, hospital, viewer)</a:t>
            </a:r>
          </a:p>
        </p:txBody>
      </p:sp>
      <p:sp>
        <p:nvSpPr>
          <p:cNvPr id="15" name="Right Arrow 14"/>
          <p:cNvSpPr/>
          <p:nvPr/>
        </p:nvSpPr>
        <p:spPr>
          <a:xfrm>
            <a:off x="6172200" y="2560320"/>
            <a:ext cx="182880" cy="182880"/>
          </a:xfrm>
          <a:prstGeom prst="rightArrow">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1554480"/>
            <a:ext cx="2743200" cy="50292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572768"/>
            <a:ext cx="1371600" cy="457200"/>
          </a:xfrm>
          <a:prstGeom prst="rect">
            <a:avLst/>
          </a:prstGeom>
          <a:noFill/>
        </p:spPr>
        <p:txBody>
          <a:bodyPr wrap="square"/>
          <a:lstStyle/>
          <a:p>
            <a:pPr algn="l">
              <a:defRPr sz="1600" b="1">
                <a:solidFill>
                  <a:srgbClr val="FFFFFF"/>
                </a:solidFill>
                <a:latin typeface="Calibri"/>
              </a:defRPr>
            </a:pPr>
            <a:r>
              <a:t>Q3 2027</a:t>
            </a:r>
          </a:p>
        </p:txBody>
      </p:sp>
      <p:sp>
        <p:nvSpPr>
          <p:cNvPr id="18" name="TextBox 17"/>
          <p:cNvSpPr txBox="1"/>
          <p:nvPr/>
        </p:nvSpPr>
        <p:spPr>
          <a:xfrm>
            <a:off x="7680960" y="1572768"/>
            <a:ext cx="1188720" cy="457200"/>
          </a:xfrm>
          <a:prstGeom prst="rect">
            <a:avLst/>
          </a:prstGeom>
          <a:noFill/>
        </p:spPr>
        <p:txBody>
          <a:bodyPr wrap="square"/>
          <a:lstStyle/>
          <a:p>
            <a:pPr algn="r">
              <a:defRPr sz="1100" b="1">
                <a:solidFill>
                  <a:srgbClr val="00F0FF"/>
                </a:solidFill>
                <a:latin typeface="Calibri"/>
              </a:defRPr>
            </a:pPr>
            <a:r>
              <a:t>SCALE</a:t>
            </a:r>
          </a:p>
        </p:txBody>
      </p:sp>
      <p:sp>
        <p:nvSpPr>
          <p:cNvPr id="19" name="Rectangle 18"/>
          <p:cNvSpPr/>
          <p:nvPr/>
        </p:nvSpPr>
        <p:spPr>
          <a:xfrm>
            <a:off x="6309360" y="2057400"/>
            <a:ext cx="2743200" cy="32004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2194560"/>
            <a:ext cx="2468880" cy="2926080"/>
          </a:xfrm>
          <a:prstGeom prst="rect">
            <a:avLst/>
          </a:prstGeom>
          <a:noFill/>
        </p:spPr>
        <p:txBody>
          <a:bodyPr wrap="square">
            <a:spAutoFit/>
          </a:bodyPr>
          <a:lstStyle/>
          <a:p>
            <a:pPr>
              <a:spcAft>
                <a:spcPts val="800"/>
              </a:spcAft>
              <a:defRPr sz="1100">
                <a:solidFill>
                  <a:srgbClr val="33384D"/>
                </a:solidFill>
                <a:latin typeface="Calibri"/>
              </a:defRPr>
            </a:pPr>
            <a:r>
              <a:t>•  Model monitoring: drift detection, automated retraining triggers</a:t>
            </a:r>
          </a:p>
          <a:p>
            <a:pPr>
              <a:spcAft>
                <a:spcPts val="800"/>
              </a:spcAft>
              <a:defRPr sz="1100">
                <a:solidFill>
                  <a:srgbClr val="33384D"/>
                </a:solidFill>
                <a:latin typeface="Calibri"/>
              </a:defRPr>
            </a:pPr>
            <a:r>
              <a:t>•  prediction_log analytics dashboard for model performance</a:t>
            </a:r>
          </a:p>
          <a:p>
            <a:pPr>
              <a:spcAft>
                <a:spcPts val="800"/>
              </a:spcAft>
              <a:defRPr sz="1100">
                <a:solidFill>
                  <a:srgbClr val="33384D"/>
                </a:solidFill>
                <a:latin typeface="Calibri"/>
              </a:defRPr>
            </a:pPr>
            <a:r>
              <a:t>•  Deploy to 20 district hospitals across TN</a:t>
            </a:r>
          </a:p>
          <a:p>
            <a:pPr>
              <a:spcAft>
                <a:spcPts val="800"/>
              </a:spcAft>
              <a:defRPr sz="1100">
                <a:solidFill>
                  <a:srgbClr val="33384D"/>
                </a:solidFill>
                <a:latin typeface="Calibri"/>
              </a:defRPr>
            </a:pPr>
            <a:r>
              <a:t>•  Load testing: 1000+ concurrent users</a:t>
            </a:r>
          </a:p>
        </p:txBody>
      </p:sp>
      <p:sp>
        <p:nvSpPr>
          <p:cNvPr id="21" name="Right Arrow 20"/>
          <p:cNvSpPr/>
          <p:nvPr/>
        </p:nvSpPr>
        <p:spPr>
          <a:xfrm>
            <a:off x="9098280" y="2560320"/>
            <a:ext cx="182880" cy="182880"/>
          </a:xfrm>
          <a:prstGeom prst="rightArrow">
            <a:avLst/>
          </a:prstGeom>
          <a:solidFill>
            <a:srgbClr val="0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554480"/>
            <a:ext cx="2743200" cy="50292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572768"/>
            <a:ext cx="1371600" cy="457200"/>
          </a:xfrm>
          <a:prstGeom prst="rect">
            <a:avLst/>
          </a:prstGeom>
          <a:noFill/>
        </p:spPr>
        <p:txBody>
          <a:bodyPr wrap="square"/>
          <a:lstStyle/>
          <a:p>
            <a:pPr algn="l">
              <a:defRPr sz="1600" b="1">
                <a:solidFill>
                  <a:srgbClr val="FFFFFF"/>
                </a:solidFill>
                <a:latin typeface="Calibri"/>
              </a:defRPr>
            </a:pPr>
            <a:r>
              <a:t>Q4 2027</a:t>
            </a:r>
          </a:p>
        </p:txBody>
      </p:sp>
      <p:sp>
        <p:nvSpPr>
          <p:cNvPr id="24" name="TextBox 23"/>
          <p:cNvSpPr txBox="1"/>
          <p:nvPr/>
        </p:nvSpPr>
        <p:spPr>
          <a:xfrm>
            <a:off x="10607040" y="1572768"/>
            <a:ext cx="1188720" cy="457200"/>
          </a:xfrm>
          <a:prstGeom prst="rect">
            <a:avLst/>
          </a:prstGeom>
          <a:noFill/>
        </p:spPr>
        <p:txBody>
          <a:bodyPr wrap="square"/>
          <a:lstStyle/>
          <a:p>
            <a:pPr algn="r">
              <a:defRPr sz="1100" b="1">
                <a:solidFill>
                  <a:srgbClr val="00F0FF"/>
                </a:solidFill>
                <a:latin typeface="Calibri"/>
              </a:defRPr>
            </a:pPr>
            <a:r>
              <a:t>ENTERPRISE</a:t>
            </a:r>
          </a:p>
        </p:txBody>
      </p:sp>
      <p:sp>
        <p:nvSpPr>
          <p:cNvPr id="25" name="Rectangle 24"/>
          <p:cNvSpPr/>
          <p:nvPr/>
        </p:nvSpPr>
        <p:spPr>
          <a:xfrm>
            <a:off x="9235440" y="2057400"/>
            <a:ext cx="2743200" cy="3200400"/>
          </a:xfrm>
          <a:prstGeom prst="rect">
            <a:avLst/>
          </a:prstGeom>
          <a:solidFill>
            <a:srgbClr val="FFFFFF"/>
          </a:solidFill>
          <a:ln w="12700">
            <a:solidFill>
              <a:srgbClr val="E2E8F0"/>
            </a:solid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2194560"/>
            <a:ext cx="2468880" cy="2926080"/>
          </a:xfrm>
          <a:prstGeom prst="rect">
            <a:avLst/>
          </a:prstGeom>
          <a:noFill/>
        </p:spPr>
        <p:txBody>
          <a:bodyPr wrap="square">
            <a:spAutoFit/>
          </a:bodyPr>
          <a:lstStyle/>
          <a:p>
            <a:pPr>
              <a:spcAft>
                <a:spcPts val="800"/>
              </a:spcAft>
              <a:defRPr sz="1100">
                <a:solidFill>
                  <a:srgbClr val="33384D"/>
                </a:solidFill>
                <a:latin typeface="Calibri"/>
              </a:defRPr>
            </a:pPr>
            <a:r>
              <a:t>•  End-to-end encrypted audit trail for compliance</a:t>
            </a:r>
          </a:p>
          <a:p>
            <a:pPr>
              <a:spcAft>
                <a:spcPts val="800"/>
              </a:spcAft>
              <a:defRPr sz="1100">
                <a:solidFill>
                  <a:srgbClr val="33384D"/>
                </a:solidFill>
                <a:latin typeface="Calibri"/>
              </a:defRPr>
            </a:pPr>
            <a:r>
              <a:t>•  HIPAA/GDPR alignment preparation</a:t>
            </a:r>
          </a:p>
          <a:p>
            <a:pPr>
              <a:spcAft>
                <a:spcPts val="800"/>
              </a:spcAft>
              <a:defRPr sz="1100">
                <a:solidFill>
                  <a:srgbClr val="33384D"/>
                </a:solidFill>
                <a:latin typeface="Calibri"/>
              </a:defRPr>
            </a:pPr>
            <a:r>
              <a:t>•  Multi-state rollout (TN → Karnataka → Kerala)</a:t>
            </a:r>
          </a:p>
          <a:p>
            <a:pPr>
              <a:spcAft>
                <a:spcPts val="800"/>
              </a:spcAft>
              <a:defRPr sz="1100">
                <a:solidFill>
                  <a:srgbClr val="33384D"/>
                </a:solidFill>
                <a:latin typeface="Calibri"/>
              </a:defRPr>
            </a:pPr>
            <a:r>
              <a:t>•  HCL-managed enterprise hosting SLA</a:t>
            </a:r>
          </a:p>
        </p:txBody>
      </p:sp>
      <p:sp>
        <p:nvSpPr>
          <p:cNvPr id="27" name="Rectangle 26"/>
          <p:cNvSpPr/>
          <p:nvPr/>
        </p:nvSpPr>
        <p:spPr>
          <a:xfrm>
            <a:off x="457200" y="5669280"/>
            <a:ext cx="11247120" cy="640080"/>
          </a:xfrm>
          <a:prstGeom prst="rect">
            <a:avLst/>
          </a:prstGeom>
          <a:solidFill>
            <a:srgbClr val="1E2761"/>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760720"/>
            <a:ext cx="10789920" cy="457200"/>
          </a:xfrm>
          <a:prstGeom prst="rect">
            <a:avLst/>
          </a:prstGeom>
          <a:noFill/>
        </p:spPr>
        <p:txBody>
          <a:bodyPr wrap="square"/>
          <a:lstStyle/>
          <a:p>
            <a:pPr algn="ctr">
              <a:defRPr sz="1200" b="0">
                <a:solidFill>
                  <a:srgbClr val="CADCFC"/>
                </a:solidFill>
                <a:latin typeface="Calibri"/>
              </a:defRPr>
            </a:pPr>
            <a:r>
              <a:t>All 58 existing tests continue passing throughout migration | Frontend build remains zero-error | Zero downtime during PostgreSQL cutover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457200"/>
          </a:xfrm>
          <a:prstGeom prst="rect">
            <a:avLst/>
          </a:prstGeom>
          <a:noFill/>
        </p:spPr>
        <p:txBody>
          <a:bodyPr wrap="square"/>
          <a:lstStyle/>
          <a:p>
            <a:pPr algn="l">
              <a:defRPr sz="2800" b="1">
                <a:solidFill>
                  <a:srgbClr val="FFFFFF"/>
                </a:solidFill>
                <a:latin typeface="Cambria"/>
              </a:defRPr>
            </a:pPr>
            <a:r>
              <a:t>Why HOSPi + HCL + Tamil Nadu</a:t>
            </a:r>
          </a:p>
        </p:txBody>
      </p:sp>
      <p:sp>
        <p:nvSpPr>
          <p:cNvPr id="4" name="Rectangle 3"/>
          <p:cNvSpPr/>
          <p:nvPr/>
        </p:nvSpPr>
        <p:spPr>
          <a:xfrm>
            <a:off x="731520" y="1371600"/>
            <a:ext cx="3474720" cy="548640"/>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3474720" cy="320040"/>
          </a:xfrm>
          <a:prstGeom prst="rect">
            <a:avLst/>
          </a:prstGeom>
          <a:noFill/>
        </p:spPr>
        <p:txBody>
          <a:bodyPr wrap="square"/>
          <a:lstStyle/>
          <a:p>
            <a:pPr algn="ctr">
              <a:defRPr sz="2200" b="1">
                <a:solidFill>
                  <a:srgbClr val="1E2761"/>
                </a:solidFill>
                <a:latin typeface="Calibri"/>
              </a:defRPr>
            </a:pPr>
            <a:r>
              <a:t>HOSPi</a:t>
            </a:r>
          </a:p>
        </p:txBody>
      </p:sp>
      <p:sp>
        <p:nvSpPr>
          <p:cNvPr id="6" name="TextBox 5"/>
          <p:cNvSpPr txBox="1"/>
          <p:nvPr/>
        </p:nvSpPr>
        <p:spPr>
          <a:xfrm>
            <a:off x="731520" y="1691640"/>
            <a:ext cx="3474720" cy="228600"/>
          </a:xfrm>
          <a:prstGeom prst="rect">
            <a:avLst/>
          </a:prstGeom>
          <a:noFill/>
        </p:spPr>
        <p:txBody>
          <a:bodyPr wrap="square"/>
          <a:lstStyle/>
          <a:p>
            <a:pPr algn="ctr">
              <a:defRPr sz="1000" b="0">
                <a:solidFill>
                  <a:srgbClr val="1E2761"/>
                </a:solidFill>
                <a:latin typeface="Calibri"/>
              </a:defRPr>
            </a:pPr>
            <a:r>
              <a:t>Product &amp; ML</a:t>
            </a:r>
          </a:p>
        </p:txBody>
      </p:sp>
      <p:sp>
        <p:nvSpPr>
          <p:cNvPr id="7" name="Rectangle 6"/>
          <p:cNvSpPr/>
          <p:nvPr/>
        </p:nvSpPr>
        <p:spPr>
          <a:xfrm>
            <a:off x="731520" y="1920240"/>
            <a:ext cx="3474720" cy="4114800"/>
          </a:xfrm>
          <a:prstGeom prst="rect">
            <a:avLst/>
          </a:prstGeom>
          <a:solidFill>
            <a:srgbClr val="CADCFC"/>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3108960" cy="3657600"/>
          </a:xfrm>
          <a:prstGeom prst="rect">
            <a:avLst/>
          </a:prstGeom>
          <a:noFill/>
        </p:spPr>
        <p:txBody>
          <a:bodyPr wrap="square">
            <a:spAutoFit/>
          </a:bodyPr>
          <a:lstStyle/>
          <a:p>
            <a:pPr>
              <a:spcAft>
                <a:spcPts val="1000"/>
              </a:spcAft>
              <a:defRPr sz="1200">
                <a:solidFill>
                  <a:srgbClr val="33384D"/>
                </a:solidFill>
                <a:latin typeface="Calibri"/>
              </a:defRPr>
            </a:pPr>
            <a:r>
              <a:t>•  7 production ML models</a:t>
            </a:r>
          </a:p>
          <a:p>
            <a:pPr>
              <a:spcAft>
                <a:spcPts val="1000"/>
              </a:spcAft>
              <a:defRPr sz="1200">
                <a:solidFill>
                  <a:srgbClr val="33384D"/>
                </a:solidFill>
                <a:latin typeface="Calibri"/>
              </a:defRPr>
            </a:pPr>
            <a:r>
              <a:t>•  58/58 tests passing</a:t>
            </a:r>
          </a:p>
          <a:p>
            <a:pPr>
              <a:spcAft>
                <a:spcPts val="1000"/>
              </a:spcAft>
              <a:defRPr sz="1200">
                <a:solidFill>
                  <a:srgbClr val="33384D"/>
                </a:solidFill>
                <a:latin typeface="Calibri"/>
              </a:defRPr>
            </a:pPr>
            <a:r>
              <a:t>•  React + TypeScript frontend</a:t>
            </a:r>
          </a:p>
          <a:p>
            <a:pPr>
              <a:spcAft>
                <a:spcPts val="1000"/>
              </a:spcAft>
              <a:defRPr sz="1200">
                <a:solidFill>
                  <a:srgbClr val="33384D"/>
                </a:solidFill>
                <a:latin typeface="Calibri"/>
              </a:defRPr>
            </a:pPr>
            <a:r>
              <a:t>•  40+ REST API endpoints</a:t>
            </a:r>
          </a:p>
          <a:p>
            <a:pPr>
              <a:spcAft>
                <a:spcPts val="1000"/>
              </a:spcAft>
              <a:defRPr sz="1200">
                <a:solidFill>
                  <a:srgbClr val="33384D"/>
                </a:solidFill>
                <a:latin typeface="Calibri"/>
              </a:defRPr>
            </a:pPr>
            <a:r>
              <a:t>•  3-tier graceful fallback</a:t>
            </a:r>
          </a:p>
          <a:p>
            <a:pPr>
              <a:spcAft>
                <a:spcPts val="1000"/>
              </a:spcAft>
              <a:defRPr sz="1200">
                <a:solidFill>
                  <a:srgbClr val="33384D"/>
                </a:solidFill>
                <a:latin typeface="Calibri"/>
              </a:defRPr>
            </a:pPr>
            <a:r>
              <a:t>•  RAG AI assistant</a:t>
            </a:r>
          </a:p>
          <a:p>
            <a:pPr>
              <a:spcAft>
                <a:spcPts val="1000"/>
              </a:spcAft>
              <a:defRPr sz="1200">
                <a:solidFill>
                  <a:srgbClr val="33384D"/>
                </a:solidFill>
                <a:latin typeface="Calibri"/>
              </a:defRPr>
            </a:pPr>
            <a:r>
              <a:t>•  Zero TypeScript errors</a:t>
            </a:r>
          </a:p>
        </p:txBody>
      </p:sp>
      <p:sp>
        <p:nvSpPr>
          <p:cNvPr id="9" name="Rectangle 8"/>
          <p:cNvSpPr/>
          <p:nvPr/>
        </p:nvSpPr>
        <p:spPr>
          <a:xfrm>
            <a:off x="4480559" y="1371600"/>
            <a:ext cx="3474720" cy="548640"/>
          </a:xfrm>
          <a:prstGeom prst="rect">
            <a:avLst/>
          </a:prstGeom>
          <a:solidFill>
            <a:srgbClr val="CADCFC"/>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371600"/>
            <a:ext cx="3474720" cy="320040"/>
          </a:xfrm>
          <a:prstGeom prst="rect">
            <a:avLst/>
          </a:prstGeom>
          <a:noFill/>
        </p:spPr>
        <p:txBody>
          <a:bodyPr wrap="square"/>
          <a:lstStyle/>
          <a:p>
            <a:pPr algn="ctr">
              <a:defRPr sz="2200" b="1">
                <a:solidFill>
                  <a:srgbClr val="1E2761"/>
                </a:solidFill>
                <a:latin typeface="Calibri"/>
              </a:defRPr>
            </a:pPr>
            <a:r>
              <a:t>HCL</a:t>
            </a:r>
          </a:p>
        </p:txBody>
      </p:sp>
      <p:sp>
        <p:nvSpPr>
          <p:cNvPr id="11" name="TextBox 10"/>
          <p:cNvSpPr txBox="1"/>
          <p:nvPr/>
        </p:nvSpPr>
        <p:spPr>
          <a:xfrm>
            <a:off x="4480559" y="1691640"/>
            <a:ext cx="3474720" cy="228600"/>
          </a:xfrm>
          <a:prstGeom prst="rect">
            <a:avLst/>
          </a:prstGeom>
          <a:noFill/>
        </p:spPr>
        <p:txBody>
          <a:bodyPr wrap="square"/>
          <a:lstStyle/>
          <a:p>
            <a:pPr algn="ctr">
              <a:defRPr sz="1000" b="0">
                <a:solidFill>
                  <a:srgbClr val="1E2761"/>
                </a:solidFill>
                <a:latin typeface="Calibri"/>
              </a:defRPr>
            </a:pPr>
            <a:r>
              <a:t>Infrastructure &amp; Scale</a:t>
            </a:r>
          </a:p>
        </p:txBody>
      </p:sp>
      <p:sp>
        <p:nvSpPr>
          <p:cNvPr id="12" name="Rectangle 11"/>
          <p:cNvSpPr/>
          <p:nvPr/>
        </p:nvSpPr>
        <p:spPr>
          <a:xfrm>
            <a:off x="4480559" y="1920240"/>
            <a:ext cx="3474720" cy="4114800"/>
          </a:xfrm>
          <a:prstGeom prst="rect">
            <a:avLst/>
          </a:prstGeom>
          <a:solidFill>
            <a:srgbClr val="CADCFC"/>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103120"/>
            <a:ext cx="3108960" cy="3657600"/>
          </a:xfrm>
          <a:prstGeom prst="rect">
            <a:avLst/>
          </a:prstGeom>
          <a:noFill/>
        </p:spPr>
        <p:txBody>
          <a:bodyPr wrap="square">
            <a:spAutoFit/>
          </a:bodyPr>
          <a:lstStyle/>
          <a:p>
            <a:pPr>
              <a:spcAft>
                <a:spcPts val="1000"/>
              </a:spcAft>
              <a:defRPr sz="1200">
                <a:solidFill>
                  <a:srgbClr val="33384D"/>
                </a:solidFill>
                <a:latin typeface="Calibri"/>
              </a:defRPr>
            </a:pPr>
            <a:r>
              <a:t>•  Enterprise hosting &amp; SLA</a:t>
            </a:r>
          </a:p>
          <a:p>
            <a:pPr>
              <a:spcAft>
                <a:spcPts val="1000"/>
              </a:spcAft>
              <a:defRPr sz="1200">
                <a:solidFill>
                  <a:srgbClr val="33384D"/>
                </a:solidFill>
                <a:latin typeface="Calibri"/>
              </a:defRPr>
            </a:pPr>
            <a:r>
              <a:t>•  PostgreSQL architecture</a:t>
            </a:r>
          </a:p>
          <a:p>
            <a:pPr>
              <a:spcAft>
                <a:spcPts val="1000"/>
              </a:spcAft>
              <a:defRPr sz="1200">
                <a:solidFill>
                  <a:srgbClr val="33384D"/>
                </a:solidFill>
                <a:latin typeface="Calibri"/>
              </a:defRPr>
            </a:pPr>
            <a:r>
              <a:t>•  TN government relationships</a:t>
            </a:r>
          </a:p>
          <a:p>
            <a:pPr>
              <a:spcAft>
                <a:spcPts val="1000"/>
              </a:spcAft>
              <a:defRPr sz="1200">
                <a:solidFill>
                  <a:srgbClr val="33384D"/>
                </a:solidFill>
                <a:latin typeface="Calibri"/>
              </a:defRPr>
            </a:pPr>
            <a:r>
              <a:t>•  IT services &amp; deployment</a:t>
            </a:r>
          </a:p>
          <a:p>
            <a:pPr>
              <a:spcAft>
                <a:spcPts val="1000"/>
              </a:spcAft>
              <a:defRPr sz="1200">
                <a:solidFill>
                  <a:srgbClr val="33384D"/>
                </a:solidFill>
                <a:latin typeface="Calibri"/>
              </a:defRPr>
            </a:pPr>
            <a:r>
              <a:t>•  Security &amp; compliance</a:t>
            </a:r>
          </a:p>
          <a:p>
            <a:pPr>
              <a:spcAft>
                <a:spcPts val="1000"/>
              </a:spcAft>
              <a:defRPr sz="1200">
                <a:solidFill>
                  <a:srgbClr val="33384D"/>
                </a:solidFill>
                <a:latin typeface="Calibri"/>
              </a:defRPr>
            </a:pPr>
            <a:r>
              <a:t>•  Multi-state scale capability</a:t>
            </a:r>
          </a:p>
          <a:p>
            <a:pPr>
              <a:spcAft>
                <a:spcPts val="1000"/>
              </a:spcAft>
              <a:defRPr sz="1200">
                <a:solidFill>
                  <a:srgbClr val="33384D"/>
                </a:solidFill>
                <a:latin typeface="Calibri"/>
              </a:defRPr>
            </a:pPr>
            <a:r>
              <a:t>•  Healthcare domain expertise</a:t>
            </a:r>
          </a:p>
        </p:txBody>
      </p:sp>
      <p:sp>
        <p:nvSpPr>
          <p:cNvPr id="14" name="Rectangle 13"/>
          <p:cNvSpPr/>
          <p:nvPr/>
        </p:nvSpPr>
        <p:spPr>
          <a:xfrm>
            <a:off x="8229598" y="1371600"/>
            <a:ext cx="3474720" cy="548640"/>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8" y="1371600"/>
            <a:ext cx="3474720" cy="320040"/>
          </a:xfrm>
          <a:prstGeom prst="rect">
            <a:avLst/>
          </a:prstGeom>
          <a:noFill/>
        </p:spPr>
        <p:txBody>
          <a:bodyPr wrap="square"/>
          <a:lstStyle/>
          <a:p>
            <a:pPr algn="ctr">
              <a:defRPr sz="2200" b="1">
                <a:solidFill>
                  <a:srgbClr val="1E2761"/>
                </a:solidFill>
                <a:latin typeface="Calibri"/>
              </a:defRPr>
            </a:pPr>
            <a:r>
              <a:t>TAMIL NADU</a:t>
            </a:r>
          </a:p>
        </p:txBody>
      </p:sp>
      <p:sp>
        <p:nvSpPr>
          <p:cNvPr id="16" name="TextBox 15"/>
          <p:cNvSpPr txBox="1"/>
          <p:nvPr/>
        </p:nvSpPr>
        <p:spPr>
          <a:xfrm>
            <a:off x="8229598" y="1691640"/>
            <a:ext cx="3474720" cy="228600"/>
          </a:xfrm>
          <a:prstGeom prst="rect">
            <a:avLst/>
          </a:prstGeom>
          <a:noFill/>
        </p:spPr>
        <p:txBody>
          <a:bodyPr wrap="square"/>
          <a:lstStyle/>
          <a:p>
            <a:pPr algn="ctr">
              <a:defRPr sz="1000" b="0">
                <a:solidFill>
                  <a:srgbClr val="1E2761"/>
                </a:solidFill>
                <a:latin typeface="Calibri"/>
              </a:defRPr>
            </a:pPr>
            <a:r>
              <a:t>Impact &amp; Purpose</a:t>
            </a:r>
          </a:p>
        </p:txBody>
      </p:sp>
      <p:sp>
        <p:nvSpPr>
          <p:cNvPr id="17" name="Rectangle 16"/>
          <p:cNvSpPr/>
          <p:nvPr/>
        </p:nvSpPr>
        <p:spPr>
          <a:xfrm>
            <a:off x="8229598" y="1920240"/>
            <a:ext cx="3474720" cy="4114800"/>
          </a:xfrm>
          <a:prstGeom prst="rect">
            <a:avLst/>
          </a:prstGeom>
          <a:solidFill>
            <a:srgbClr val="CADCFC"/>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8" y="2103120"/>
            <a:ext cx="3108960" cy="3657600"/>
          </a:xfrm>
          <a:prstGeom prst="rect">
            <a:avLst/>
          </a:prstGeom>
          <a:noFill/>
        </p:spPr>
        <p:txBody>
          <a:bodyPr wrap="square">
            <a:spAutoFit/>
          </a:bodyPr>
          <a:lstStyle/>
          <a:p>
            <a:pPr>
              <a:spcAft>
                <a:spcPts val="1000"/>
              </a:spcAft>
              <a:defRPr sz="1200">
                <a:solidFill>
                  <a:srgbClr val="33384D"/>
                </a:solidFill>
                <a:latin typeface="Calibri"/>
              </a:defRPr>
            </a:pPr>
            <a:r>
              <a:t>•  38 districts served</a:t>
            </a:r>
          </a:p>
          <a:p>
            <a:pPr>
              <a:spcAft>
                <a:spcPts val="1000"/>
              </a:spcAft>
              <a:defRPr sz="1200">
                <a:solidFill>
                  <a:srgbClr val="33384D"/>
                </a:solidFill>
                <a:latin typeface="Calibri"/>
              </a:defRPr>
            </a:pPr>
            <a:r>
              <a:t>•  4 ward types predicted</a:t>
            </a:r>
          </a:p>
          <a:p>
            <a:pPr>
              <a:spcAft>
                <a:spcPts val="1000"/>
              </a:spcAft>
              <a:defRPr sz="1200">
                <a:solidFill>
                  <a:srgbClr val="33384D"/>
                </a:solidFill>
                <a:latin typeface="Calibri"/>
              </a:defRPr>
            </a:pPr>
            <a:r>
              <a:t>•  30+ state scenario sims</a:t>
            </a:r>
          </a:p>
          <a:p>
            <a:pPr>
              <a:spcAft>
                <a:spcPts val="1000"/>
              </a:spcAft>
              <a:defRPr sz="1200">
                <a:solidFill>
                  <a:srgbClr val="33384D"/>
                </a:solidFill>
                <a:latin typeface="Calibri"/>
              </a:defRPr>
            </a:pPr>
            <a:r>
              <a:t>•  District-level mortality</a:t>
            </a:r>
          </a:p>
          <a:p>
            <a:pPr>
              <a:spcAft>
                <a:spcPts val="1000"/>
              </a:spcAft>
              <a:defRPr sz="1200">
                <a:solidFill>
                  <a:srgbClr val="33384D"/>
                </a:solidFill>
                <a:latin typeface="Calibri"/>
              </a:defRPr>
            </a:pPr>
            <a:r>
              <a:t>•  Real-time health polling</a:t>
            </a:r>
          </a:p>
          <a:p>
            <a:pPr>
              <a:spcAft>
                <a:spcPts val="1000"/>
              </a:spcAft>
              <a:defRPr sz="1200">
                <a:solidFill>
                  <a:srgbClr val="33384D"/>
                </a:solidFill>
                <a:latin typeface="Calibri"/>
              </a:defRPr>
            </a:pPr>
            <a:r>
              <a:t>•  Open architecture</a:t>
            </a:r>
          </a:p>
          <a:p>
            <a:pPr>
              <a:spcAft>
                <a:spcPts val="1000"/>
              </a:spcAft>
              <a:defRPr sz="1200">
                <a:solidFill>
                  <a:srgbClr val="33384D"/>
                </a:solidFill>
                <a:latin typeface="Calibri"/>
              </a:defRPr>
            </a:pPr>
            <a:r>
              <a:t>•  Patient lives saved</a:t>
            </a:r>
          </a:p>
        </p:txBody>
      </p:sp>
      <p:sp>
        <p:nvSpPr>
          <p:cNvPr id="19" name="Rectangle 18"/>
          <p:cNvSpPr/>
          <p:nvPr/>
        </p:nvSpPr>
        <p:spPr>
          <a:xfrm>
            <a:off x="0" y="6803136"/>
            <a:ext cx="12191695" cy="54864"/>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515600" cy="914400"/>
          </a:xfrm>
          <a:prstGeom prst="rect">
            <a:avLst/>
          </a:prstGeom>
          <a:noFill/>
        </p:spPr>
        <p:txBody>
          <a:bodyPr wrap="square"/>
          <a:lstStyle/>
          <a:p>
            <a:pPr algn="ctr">
              <a:defRPr sz="4000" b="1">
                <a:solidFill>
                  <a:srgbClr val="FFFFFF"/>
                </a:solidFill>
                <a:latin typeface="Cambria"/>
              </a:defRPr>
            </a:pPr>
            <a:r>
              <a:t>Let’s build Tamil Nadu’s</a:t>
            </a:r>
            <a:br/>
            <a:r>
              <a:t>predictive healthcare layer. Together.</a:t>
            </a:r>
          </a:p>
        </p:txBody>
      </p:sp>
      <p:sp>
        <p:nvSpPr>
          <p:cNvPr id="4" name="Rectangle 3"/>
          <p:cNvSpPr/>
          <p:nvPr/>
        </p:nvSpPr>
        <p:spPr>
          <a:xfrm>
            <a:off x="5029200" y="3200400"/>
            <a:ext cx="2103120" cy="36576"/>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566160"/>
            <a:ext cx="10515600" cy="457200"/>
          </a:xfrm>
          <a:prstGeom prst="rect">
            <a:avLst/>
          </a:prstGeom>
          <a:noFill/>
        </p:spPr>
        <p:txBody>
          <a:bodyPr wrap="square"/>
          <a:lstStyle/>
          <a:p>
            <a:pPr algn="ctr">
              <a:defRPr sz="1600" b="0">
                <a:solidFill>
                  <a:srgbClr val="CADCFC"/>
                </a:solidFill>
                <a:latin typeface="Calibri"/>
              </a:defRPr>
            </a:pPr>
            <a:r>
              <a:t>HOSPi is production-ready. HCL is the bridge. Tamil Nadu is the future.</a:t>
            </a:r>
          </a:p>
        </p:txBody>
      </p:sp>
      <p:sp>
        <p:nvSpPr>
          <p:cNvPr id="6" name="Rectangle 5"/>
          <p:cNvSpPr/>
          <p:nvPr/>
        </p:nvSpPr>
        <p:spPr>
          <a:xfrm>
            <a:off x="3657600" y="4572000"/>
            <a:ext cx="4846320" cy="1097280"/>
          </a:xfrm>
          <a:prstGeom prst="rect">
            <a:avLst/>
          </a:prstGeom>
          <a:solidFill>
            <a:srgbClr val="FFFF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4663440"/>
            <a:ext cx="4480560" cy="365760"/>
          </a:xfrm>
          <a:prstGeom prst="rect">
            <a:avLst/>
          </a:prstGeom>
          <a:noFill/>
        </p:spPr>
        <p:txBody>
          <a:bodyPr wrap="square"/>
          <a:lstStyle/>
          <a:p>
            <a:pPr algn="ctr">
              <a:defRPr sz="1800" b="1">
                <a:solidFill>
                  <a:srgbClr val="1E2761"/>
                </a:solidFill>
                <a:latin typeface="Calibri"/>
              </a:defRPr>
            </a:pPr>
            <a:r>
              <a:t>HospitalIQ (HOSPi)</a:t>
            </a:r>
          </a:p>
        </p:txBody>
      </p:sp>
      <p:sp>
        <p:nvSpPr>
          <p:cNvPr id="8" name="TextBox 7"/>
          <p:cNvSpPr txBox="1"/>
          <p:nvPr/>
        </p:nvSpPr>
        <p:spPr>
          <a:xfrm>
            <a:off x="3840480" y="5029200"/>
            <a:ext cx="4480560" cy="548640"/>
          </a:xfrm>
          <a:prstGeom prst="rect">
            <a:avLst/>
          </a:prstGeom>
          <a:noFill/>
        </p:spPr>
        <p:txBody>
          <a:bodyPr wrap="square"/>
          <a:lstStyle/>
          <a:p>
            <a:pPr algn="ctr">
              <a:defRPr sz="1300" b="0">
                <a:solidFill>
                  <a:srgbClr val="33384D"/>
                </a:solidFill>
                <a:latin typeface="Calibri"/>
              </a:defRPr>
            </a:pPr>
            <a:r>
              <a:t>contact@hospitaliq.ai  |  hospitaliq.ai</a:t>
            </a:r>
            <a:br/>
            <a:r>
              <a:t>TN Startup Pitch 2026</a:t>
            </a:r>
          </a:p>
        </p:txBody>
      </p:sp>
      <p:sp>
        <p:nvSpPr>
          <p:cNvPr id="9" name="Rectangle 8"/>
          <p:cNvSpPr/>
          <p:nvPr/>
        </p:nvSpPr>
        <p:spPr>
          <a:xfrm>
            <a:off x="0" y="6803136"/>
            <a:ext cx="12191695" cy="54864"/>
          </a:xfrm>
          <a:prstGeom prst="rect">
            <a:avLst/>
          </a:prstGeom>
          <a:solidFill>
            <a:srgbClr val="00F0FF"/>
          </a:solidFill>
          <a:ln>
            <a:noFill/>
          </a:ln>
          <a:effectLst>
            <a:outerShdw blurRad="91440" dist="91440" dir="2700000" algn="tl" rotWithShape="0">
              <a:srgbClr val="1E2761">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